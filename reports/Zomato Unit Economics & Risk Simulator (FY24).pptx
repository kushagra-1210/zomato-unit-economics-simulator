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8E35A3-5964-4CBC-BC6B-53A5E65DDAB7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71D348-C8E8-4351-B055-DF7467BE8A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0109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71D348-C8E8-4351-B055-DF7467BE8A16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8351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160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565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58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040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2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172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91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7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581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835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206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8518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ushagra-1210/Zomato-Unit-Economics-Simulator.gi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189EB388-09DA-71C0-0684-C762D62DA1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7254" y="908651"/>
            <a:ext cx="4937004" cy="4058682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600" dirty="0"/>
              <a:t>Zomato Unit Economics &amp; Risk Simulator (FY24) </a:t>
            </a:r>
            <a:endParaRPr lang="en-IN" sz="4600" dirty="0"/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8579F746-75A6-EEE7-4524-8189F50073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7254" y="4660516"/>
            <a:ext cx="4172757" cy="845487"/>
          </a:xfrm>
        </p:spPr>
        <p:txBody>
          <a:bodyPr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800" dirty="0"/>
              <a:t>Monte Carlo Based Profitability Model</a:t>
            </a:r>
          </a:p>
          <a:p>
            <a:pPr>
              <a:lnSpc>
                <a:spcPct val="100000"/>
              </a:lnSpc>
            </a:pPr>
            <a:r>
              <a:rPr lang="en-US" sz="1700" dirty="0"/>
              <a:t>Kushagra Bansal</a:t>
            </a:r>
            <a:endParaRPr lang="en-IN" sz="1700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EBC78C7A-8BEA-F6C3-1274-CA1FA2B674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28" r="11641"/>
          <a:stretch>
            <a:fillRect/>
          </a:stretch>
        </p:blipFill>
        <p:spPr>
          <a:xfrm>
            <a:off x="6326272" y="10"/>
            <a:ext cx="586572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043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A14E0-5934-BCF2-90AC-322D08783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386" y="1069677"/>
            <a:ext cx="10691265" cy="1307592"/>
          </a:xfrm>
        </p:spPr>
        <p:txBody>
          <a:bodyPr>
            <a:normAutofit fontScale="90000"/>
          </a:bodyPr>
          <a:lstStyle/>
          <a:p>
            <a:r>
              <a:rPr lang="en-IN" dirty="0"/>
              <a:t>Why Model Unit Economics?</a:t>
            </a:r>
            <a:br>
              <a:rPr lang="en-IN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DFBEE0C-DD9C-BF37-458C-25B214E373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0636" y="2082084"/>
            <a:ext cx="10582716" cy="3076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Food delivery profitability is highly sensitive to small fluctuations in AOV, CAC, refunds, and rider payouts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Static Excel models hide risk because they assume fixed averages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Real-world costs behave like distributions, not constants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Monte Carlo helps quantify risk of loss per order (vs. point estimates)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Goal: simulate volatility, identify failure points, and test strategy levers</a:t>
            </a:r>
          </a:p>
        </p:txBody>
      </p:sp>
    </p:spTree>
    <p:extLst>
      <p:ext uri="{BB962C8B-B14F-4D97-AF65-F5344CB8AC3E}">
        <p14:creationId xmlns:p14="http://schemas.microsoft.com/office/powerpoint/2010/main" val="2007909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CC45A-53AA-197C-E425-DF4024ACA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822384"/>
            <a:ext cx="10691265" cy="1307592"/>
          </a:xfrm>
        </p:spPr>
        <p:txBody>
          <a:bodyPr>
            <a:normAutofit fontScale="90000"/>
          </a:bodyPr>
          <a:lstStyle/>
          <a:p>
            <a:r>
              <a:rPr lang="en-US" dirty="0"/>
              <a:t>FY24 Operating Inputs Used in the Simulator (Zomato Actuals + Industry Ranges)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697CC-0361-80D6-FBC1-426FCE3A3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644" y="2181735"/>
            <a:ext cx="3187002" cy="3739896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>
                <a:latin typeface="+mj-lt"/>
              </a:rPr>
              <a:t>This simulator is built on Zomato’s FY24 food-delivery metrics and realistic industry cost distributions. These assumptions form the baseline for the Monte Carlo model.</a:t>
            </a:r>
          </a:p>
          <a:p>
            <a:pPr algn="just"/>
            <a:r>
              <a:rPr lang="en-US" dirty="0">
                <a:latin typeface="+mj-lt"/>
              </a:rPr>
              <a:t>These parameters define the statistical “shape” of unit economics and allow us to simulate 10,000 realistic profit outcomes instead of a single static estimate.</a:t>
            </a:r>
          </a:p>
          <a:p>
            <a:pPr algn="just"/>
            <a:endParaRPr lang="en-US" dirty="0">
              <a:latin typeface="+mj-lt"/>
            </a:endParaRPr>
          </a:p>
          <a:p>
            <a:pPr marL="0" indent="0" algn="just">
              <a:buNone/>
            </a:pPr>
            <a:endParaRPr lang="en-IN" dirty="0">
              <a:latin typeface="+mj-lt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1662233-309B-92AE-3CDF-4549AA819F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061320"/>
              </p:ext>
            </p:extLst>
          </p:nvPr>
        </p:nvGraphicFramePr>
        <p:xfrm>
          <a:off x="3996903" y="2032718"/>
          <a:ext cx="7394997" cy="4034286"/>
        </p:xfrm>
        <a:graphic>
          <a:graphicData uri="http://schemas.openxmlformats.org/drawingml/2006/table">
            <a:tbl>
              <a:tblPr/>
              <a:tblGrid>
                <a:gridCol w="2464999">
                  <a:extLst>
                    <a:ext uri="{9D8B030D-6E8A-4147-A177-3AD203B41FA5}">
                      <a16:colId xmlns:a16="http://schemas.microsoft.com/office/drawing/2014/main" val="993228678"/>
                    </a:ext>
                  </a:extLst>
                </a:gridCol>
                <a:gridCol w="2464999">
                  <a:extLst>
                    <a:ext uri="{9D8B030D-6E8A-4147-A177-3AD203B41FA5}">
                      <a16:colId xmlns:a16="http://schemas.microsoft.com/office/drawing/2014/main" val="3066652164"/>
                    </a:ext>
                  </a:extLst>
                </a:gridCol>
                <a:gridCol w="2464999">
                  <a:extLst>
                    <a:ext uri="{9D8B030D-6E8A-4147-A177-3AD203B41FA5}">
                      <a16:colId xmlns:a16="http://schemas.microsoft.com/office/drawing/2014/main" val="1523526212"/>
                    </a:ext>
                  </a:extLst>
                </a:gridCol>
              </a:tblGrid>
              <a:tr h="258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+mj-lt"/>
                        </a:rPr>
                        <a:t>Driver</a:t>
                      </a:r>
                      <a:endParaRPr lang="en-IN" sz="1400">
                        <a:latin typeface="+mj-lt"/>
                      </a:endParaRP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+mj-lt"/>
                        </a:rPr>
                        <a:t>Value Used</a:t>
                      </a:r>
                      <a:endParaRPr lang="en-IN" sz="1400">
                        <a:latin typeface="+mj-lt"/>
                      </a:endParaRP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+mj-lt"/>
                        </a:rPr>
                        <a:t>Source / Logic</a:t>
                      </a:r>
                      <a:endParaRPr lang="en-IN" sz="1400">
                        <a:latin typeface="+mj-lt"/>
                      </a:endParaRP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5287852"/>
                  </a:ext>
                </a:extLst>
              </a:tr>
              <a:tr h="258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+mj-lt"/>
                        </a:rPr>
                        <a:t>AOV (Mean)</a:t>
                      </a:r>
                      <a:endParaRPr lang="en-IN" sz="1400" dirty="0">
                        <a:latin typeface="+mj-lt"/>
                      </a:endParaRP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+mj-lt"/>
                        </a:rPr>
                        <a:t>₹428</a:t>
                      </a: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+mj-lt"/>
                        </a:rPr>
                        <a:t>Zomato FY24 AOV</a:t>
                      </a: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6060282"/>
                  </a:ext>
                </a:extLst>
              </a:tr>
              <a:tr h="258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+mj-lt"/>
                        </a:rPr>
                        <a:t>AOV (Std Dev)</a:t>
                      </a:r>
                      <a:endParaRPr lang="en-IN" sz="1400">
                        <a:latin typeface="+mj-lt"/>
                      </a:endParaRP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+mj-lt"/>
                        </a:rPr>
                        <a:t>₹50</a:t>
                      </a: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+mj-lt"/>
                        </a:rPr>
                        <a:t>Basket size volatility</a:t>
                      </a: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2441447"/>
                  </a:ext>
                </a:extLst>
              </a:tr>
              <a:tr h="258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+mj-lt"/>
                        </a:rPr>
                        <a:t>Commission Rate</a:t>
                      </a:r>
                      <a:endParaRPr lang="en-IN" sz="1400">
                        <a:latin typeface="+mj-lt"/>
                      </a:endParaRP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+mj-lt"/>
                        </a:rPr>
                        <a:t>22.5%</a:t>
                      </a: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+mj-lt"/>
                        </a:rPr>
                        <a:t>Typical take rate</a:t>
                      </a: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1164634"/>
                  </a:ext>
                </a:extLst>
              </a:tr>
              <a:tr h="258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+mj-lt"/>
                        </a:rPr>
                        <a:t>Delivery Fee</a:t>
                      </a:r>
                      <a:endParaRPr lang="en-IN" sz="1400">
                        <a:latin typeface="+mj-lt"/>
                      </a:endParaRP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+mj-lt"/>
                        </a:rPr>
                        <a:t>₹33</a:t>
                      </a: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+mj-lt"/>
                        </a:rPr>
                        <a:t>FY24 average per order</a:t>
                      </a: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7350671"/>
                  </a:ext>
                </a:extLst>
              </a:tr>
              <a:tr h="258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+mj-lt"/>
                        </a:rPr>
                        <a:t>Rider Cost (Mean)</a:t>
                      </a:r>
                      <a:endParaRPr lang="en-IN" sz="1400" dirty="0">
                        <a:latin typeface="+mj-lt"/>
                      </a:endParaRP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+mj-lt"/>
                        </a:rPr>
                        <a:t>₹32</a:t>
                      </a: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+mj-lt"/>
                        </a:rPr>
                        <a:t>Industry avg payout</a:t>
                      </a: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801839"/>
                  </a:ext>
                </a:extLst>
              </a:tr>
              <a:tr h="258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+mj-lt"/>
                        </a:rPr>
                        <a:t>Rider Cost (Std Dev)</a:t>
                      </a:r>
                      <a:endParaRPr lang="en-IN" sz="1400">
                        <a:latin typeface="+mj-lt"/>
                      </a:endParaRP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+mj-lt"/>
                        </a:rPr>
                        <a:t>₹10</a:t>
                      </a: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+mj-lt"/>
                        </a:rPr>
                        <a:t>Traffic/rain variability</a:t>
                      </a: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7460167"/>
                  </a:ext>
                </a:extLst>
              </a:tr>
              <a:tr h="448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+mj-lt"/>
                        </a:rPr>
                        <a:t>Packaging Cost</a:t>
                      </a:r>
                      <a:endParaRPr lang="en-IN" sz="1400">
                        <a:latin typeface="+mj-lt"/>
                      </a:endParaRP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+mj-lt"/>
                        </a:rPr>
                        <a:t>₹12</a:t>
                      </a: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+mj-lt"/>
                        </a:rPr>
                        <a:t>Restaurant reimbursement</a:t>
                      </a: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1968326"/>
                  </a:ext>
                </a:extLst>
              </a:tr>
              <a:tr h="448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+mj-lt"/>
                        </a:rPr>
                        <a:t>CAC/Marketing Cost</a:t>
                      </a:r>
                      <a:endParaRPr lang="en-IN" sz="1400" dirty="0">
                        <a:latin typeface="+mj-lt"/>
                      </a:endParaRP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+mj-lt"/>
                        </a:rPr>
                        <a:t>₹20 (SD 10)</a:t>
                      </a: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+mj-lt"/>
                        </a:rPr>
                        <a:t>FY24 marketing allocation</a:t>
                      </a: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0103112"/>
                  </a:ext>
                </a:extLst>
              </a:tr>
              <a:tr h="258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+mj-lt"/>
                        </a:rPr>
                        <a:t>Refund Probability</a:t>
                      </a:r>
                      <a:endParaRPr lang="en-IN" sz="1400">
                        <a:latin typeface="+mj-lt"/>
                      </a:endParaRP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+mj-lt"/>
                        </a:rPr>
                        <a:t>2%</a:t>
                      </a: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+mj-lt"/>
                        </a:rPr>
                        <a:t>Cancellations/refunds</a:t>
                      </a: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4409478"/>
                  </a:ext>
                </a:extLst>
              </a:tr>
              <a:tr h="258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+mj-lt"/>
                        </a:rPr>
                        <a:t>Refund Loss Amount</a:t>
                      </a:r>
                      <a:endParaRPr lang="en-IN" sz="1400">
                        <a:latin typeface="+mj-lt"/>
                      </a:endParaRP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+mj-lt"/>
                        </a:rPr>
                        <a:t>= AOV</a:t>
                      </a: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+mj-lt"/>
                        </a:rPr>
                        <a:t>Full order value lost</a:t>
                      </a: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755550"/>
                  </a:ext>
                </a:extLst>
              </a:tr>
              <a:tr h="258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+mj-lt"/>
                        </a:rPr>
                        <a:t>Payment Gateway Fee</a:t>
                      </a:r>
                      <a:endParaRPr lang="en-IN" sz="1400">
                        <a:latin typeface="+mj-lt"/>
                      </a:endParaRP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+mj-lt"/>
                        </a:rPr>
                        <a:t>2.4% of AOV</a:t>
                      </a: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+mj-lt"/>
                        </a:rPr>
                        <a:t>Standard MDR</a:t>
                      </a: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7470254"/>
                  </a:ext>
                </a:extLst>
              </a:tr>
              <a:tr h="258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+mj-lt"/>
                        </a:rPr>
                        <a:t>Monthly Orders (FY24)</a:t>
                      </a:r>
                      <a:endParaRPr lang="en-IN" sz="1400">
                        <a:latin typeface="+mj-lt"/>
                      </a:endParaRP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+mj-lt"/>
                        </a:rPr>
                        <a:t>~66 million</a:t>
                      </a: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+mj-lt"/>
                        </a:rPr>
                        <a:t>GOV ÷ AOV</a:t>
                      </a:r>
                    </a:p>
                  </a:txBody>
                  <a:tcPr marL="71926" marR="71926" marT="35963" marB="359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558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034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7BB1D-DBF7-C00E-A4F9-15C557154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862641"/>
            <a:ext cx="10691265" cy="1307592"/>
          </a:xfrm>
        </p:spPr>
        <p:txBody>
          <a:bodyPr>
            <a:normAutofit fontScale="90000"/>
          </a:bodyPr>
          <a:lstStyle/>
          <a:p>
            <a:r>
              <a:rPr lang="en-US" dirty="0"/>
              <a:t>The “Golden Equation” of Profit per Order (Unit Economics Framework)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308A1-B824-6881-24B6-04BED9817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6" y="1991952"/>
            <a:ext cx="2738428" cy="3739896"/>
          </a:xfrm>
        </p:spPr>
        <p:txBody>
          <a:bodyPr>
            <a:normAutofit/>
          </a:bodyPr>
          <a:lstStyle/>
          <a:p>
            <a:pPr algn="just"/>
            <a:r>
              <a:rPr lang="en-US" sz="1600" dirty="0">
                <a:latin typeface="+mj-lt"/>
              </a:rPr>
              <a:t>Zomato’s profitability fundamentally depends on how revenue and variable costs behave at the order level.</a:t>
            </a:r>
          </a:p>
          <a:p>
            <a:pPr algn="just"/>
            <a:r>
              <a:rPr lang="en-US" sz="1600" dirty="0">
                <a:latin typeface="+mj-lt"/>
              </a:rPr>
              <a:t>This equation defines how every assumption in the model flows into profit: </a:t>
            </a:r>
          </a:p>
          <a:p>
            <a:pPr algn="just"/>
            <a:endParaRPr lang="en-US" sz="1600" dirty="0">
              <a:latin typeface="+mj-lt"/>
            </a:endParaRPr>
          </a:p>
          <a:p>
            <a:pPr algn="just"/>
            <a:endParaRPr lang="en-IN" sz="1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677FCD7-83ED-A936-2882-468989132451}"/>
              </a:ext>
            </a:extLst>
          </p:cNvPr>
          <p:cNvSpPr txBox="1">
            <a:spLocks/>
          </p:cNvSpPr>
          <p:nvPr/>
        </p:nvSpPr>
        <p:spPr>
          <a:xfrm>
            <a:off x="3439064" y="1968948"/>
            <a:ext cx="4779034" cy="37398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buNone/>
            </a:pPr>
            <a:r>
              <a:rPr lang="en-US" sz="1600" b="1" dirty="0">
                <a:latin typeface="+mj-lt"/>
              </a:rPr>
              <a:t>Net Profit per Order = Revenue   -  Cost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1600" b="1" dirty="0">
                <a:latin typeface="+mj-lt"/>
              </a:rPr>
              <a:t>                                       per Order     per Order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+mj-lt"/>
              </a:rPr>
              <a:t>Revenue Components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1600" dirty="0">
                <a:latin typeface="+mj-lt"/>
              </a:rPr>
              <a:t>Revenue = (AOV × Commission Rate) + Delivery Fee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1600" dirty="0">
                <a:latin typeface="+mj-lt"/>
              </a:rPr>
              <a:t>Commission = Platform take rate from restaurant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1600" dirty="0">
                <a:latin typeface="+mj-lt"/>
              </a:rPr>
              <a:t>Delivery Fee = Paid by customer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600" dirty="0">
              <a:latin typeface="+mj-lt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+mj-lt"/>
              </a:rPr>
              <a:t>Cost Components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1600" dirty="0">
                <a:latin typeface="+mj-lt"/>
              </a:rPr>
              <a:t>Costs = Rider Cost + Packaging Cost + CAC/Marketing + Payment Gateway Fee + Refund Loss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1600" dirty="0">
                <a:latin typeface="+mj-lt"/>
              </a:rPr>
              <a:t>Rider Cost: Payout to delivery partner (varies with traffic, rain → modeled as Normal dist.)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1600" dirty="0">
                <a:latin typeface="+mj-lt"/>
              </a:rPr>
              <a:t>Packaging Cost: Reimbursement/charge per order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1600" dirty="0">
                <a:latin typeface="+mj-lt"/>
              </a:rPr>
              <a:t>CAC / Marketing Cost: Spread across acquired users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1600" dirty="0">
                <a:latin typeface="+mj-lt"/>
              </a:rPr>
              <a:t>Gateway Fee: % of AOV (typically 2–3%)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1600" dirty="0">
                <a:latin typeface="+mj-lt"/>
              </a:rPr>
              <a:t>Refund Loss: = AOV × (refund probability)</a:t>
            </a:r>
          </a:p>
          <a:p>
            <a:pPr marL="0" indent="0" algn="just">
              <a:spcBef>
                <a:spcPts val="0"/>
              </a:spcBef>
              <a:buNone/>
            </a:pPr>
            <a:endParaRPr lang="en-US" sz="1600" b="1" dirty="0">
              <a:latin typeface="+mj-lt"/>
            </a:endParaRPr>
          </a:p>
          <a:p>
            <a:pPr algn="just"/>
            <a:endParaRPr lang="en-IN" sz="1600" dirty="0">
              <a:latin typeface="+mj-l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3E00995-C526-6A0B-D957-8BB800148E91}"/>
              </a:ext>
            </a:extLst>
          </p:cNvPr>
          <p:cNvCxnSpPr>
            <a:cxnSpLocks/>
          </p:cNvCxnSpPr>
          <p:nvPr/>
        </p:nvCxnSpPr>
        <p:spPr>
          <a:xfrm>
            <a:off x="3439064" y="1986201"/>
            <a:ext cx="0" cy="40350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C2555B5-2447-F98B-C4CE-6B9B53BCC5F5}"/>
              </a:ext>
            </a:extLst>
          </p:cNvPr>
          <p:cNvCxnSpPr>
            <a:cxnSpLocks/>
          </p:cNvCxnSpPr>
          <p:nvPr/>
        </p:nvCxnSpPr>
        <p:spPr>
          <a:xfrm>
            <a:off x="8186455" y="1983324"/>
            <a:ext cx="0" cy="40350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FAFAFEA-2028-CC9E-EDA4-0A12B0587305}"/>
              </a:ext>
            </a:extLst>
          </p:cNvPr>
          <p:cNvSpPr txBox="1">
            <a:spLocks/>
          </p:cNvSpPr>
          <p:nvPr/>
        </p:nvSpPr>
        <p:spPr>
          <a:xfrm>
            <a:off x="8218098" y="1991952"/>
            <a:ext cx="3973902" cy="41270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IN" sz="1600" b="1" dirty="0">
                <a:latin typeface="+mj-lt"/>
              </a:rPr>
              <a:t>Example: FY24 Average Order (Illustration)</a:t>
            </a:r>
          </a:p>
          <a:p>
            <a:pPr>
              <a:spcBef>
                <a:spcPts val="0"/>
              </a:spcBef>
            </a:pPr>
            <a:r>
              <a:rPr lang="en-IN" sz="1600" dirty="0">
                <a:latin typeface="+mj-lt"/>
              </a:rPr>
              <a:t>AOV = ₹428</a:t>
            </a:r>
          </a:p>
          <a:p>
            <a:pPr>
              <a:spcBef>
                <a:spcPts val="0"/>
              </a:spcBef>
            </a:pPr>
            <a:r>
              <a:rPr lang="en-IN" sz="1600" dirty="0">
                <a:latin typeface="+mj-lt"/>
              </a:rPr>
              <a:t>Commission (22.5%) = ₹96.3</a:t>
            </a:r>
          </a:p>
          <a:p>
            <a:pPr>
              <a:spcBef>
                <a:spcPts val="0"/>
              </a:spcBef>
            </a:pPr>
            <a:r>
              <a:rPr lang="en-IN" sz="1600" dirty="0">
                <a:latin typeface="+mj-lt"/>
              </a:rPr>
              <a:t>Delivery Fee = ₹33 </a:t>
            </a:r>
            <a:r>
              <a:rPr lang="en-IN" sz="1600" b="1" dirty="0">
                <a:latin typeface="+mj-lt"/>
              </a:rPr>
              <a:t>→ Revenue ≈ ₹129.3</a:t>
            </a:r>
            <a:endParaRPr lang="en-IN" sz="1600" dirty="0">
              <a:latin typeface="+mj-lt"/>
            </a:endParaRPr>
          </a:p>
          <a:p>
            <a:pPr>
              <a:spcBef>
                <a:spcPts val="0"/>
              </a:spcBef>
            </a:pPr>
            <a:r>
              <a:rPr lang="en-IN" sz="1600" dirty="0">
                <a:latin typeface="+mj-lt"/>
              </a:rPr>
              <a:t>Rider Cost ≈ ₹32</a:t>
            </a:r>
          </a:p>
          <a:p>
            <a:pPr>
              <a:spcBef>
                <a:spcPts val="0"/>
              </a:spcBef>
            </a:pPr>
            <a:r>
              <a:rPr lang="en-IN" sz="1600" dirty="0">
                <a:latin typeface="+mj-lt"/>
              </a:rPr>
              <a:t>CAC ≈ ₹20</a:t>
            </a:r>
          </a:p>
          <a:p>
            <a:pPr>
              <a:spcBef>
                <a:spcPts val="0"/>
              </a:spcBef>
            </a:pPr>
            <a:r>
              <a:rPr lang="en-IN" sz="1600" dirty="0">
                <a:latin typeface="+mj-lt"/>
              </a:rPr>
              <a:t>Packaging ≈ ₹12</a:t>
            </a:r>
          </a:p>
          <a:p>
            <a:pPr>
              <a:spcBef>
                <a:spcPts val="0"/>
              </a:spcBef>
            </a:pPr>
            <a:r>
              <a:rPr lang="en-IN" sz="1600" dirty="0">
                <a:latin typeface="+mj-lt"/>
              </a:rPr>
              <a:t>Gateway Fee ≈ ₹10.3</a:t>
            </a:r>
          </a:p>
          <a:p>
            <a:pPr>
              <a:spcBef>
                <a:spcPts val="0"/>
              </a:spcBef>
            </a:pPr>
            <a:r>
              <a:rPr lang="en-IN" sz="1600" dirty="0">
                <a:latin typeface="+mj-lt"/>
              </a:rPr>
              <a:t>Refund Cost (2% × AOV) ≈ ₹8.5</a:t>
            </a:r>
            <a:br>
              <a:rPr lang="en-IN" sz="1600" dirty="0">
                <a:latin typeface="+mj-lt"/>
              </a:rPr>
            </a:br>
            <a:r>
              <a:rPr lang="en-IN" sz="1600" b="1" dirty="0">
                <a:latin typeface="+mj-lt"/>
              </a:rPr>
              <a:t>→ Total Cost ≈ ₹82.8</a:t>
            </a:r>
            <a:endParaRPr lang="en-IN" sz="1600" dirty="0">
              <a:latin typeface="+mj-lt"/>
            </a:endParaRPr>
          </a:p>
          <a:p>
            <a:pPr>
              <a:spcBef>
                <a:spcPts val="0"/>
              </a:spcBef>
            </a:pPr>
            <a:r>
              <a:rPr lang="en-IN" sz="1600" b="1" dirty="0">
                <a:latin typeface="+mj-lt"/>
              </a:rPr>
              <a:t>Net Profit ≈ ₹46.5 per order</a:t>
            </a:r>
          </a:p>
          <a:p>
            <a:pPr>
              <a:spcBef>
                <a:spcPts val="0"/>
              </a:spcBef>
            </a:pPr>
            <a:r>
              <a:rPr lang="en-IN" sz="1600" i="1" dirty="0">
                <a:latin typeface="+mj-lt"/>
              </a:rPr>
              <a:t>(This matches the baseline simulation output)</a:t>
            </a:r>
            <a:endParaRPr lang="en-IN" sz="1600" dirty="0">
              <a:latin typeface="+mj-lt"/>
            </a:endParaRPr>
          </a:p>
          <a:p>
            <a:pPr algn="just">
              <a:spcBef>
                <a:spcPts val="0"/>
              </a:spcBef>
            </a:pPr>
            <a:endParaRPr lang="en-IN" sz="1600" dirty="0">
              <a:latin typeface="+mj-lt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DC34B5F-DFB0-2C4C-7D8A-3B34D13837A2}"/>
              </a:ext>
            </a:extLst>
          </p:cNvPr>
          <p:cNvSpPr txBox="1">
            <a:spLocks/>
          </p:cNvSpPr>
          <p:nvPr/>
        </p:nvSpPr>
        <p:spPr>
          <a:xfrm>
            <a:off x="712383" y="6119004"/>
            <a:ext cx="10151884" cy="4880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i="1" dirty="0"/>
              <a:t>This equation converts Zomato’s operating model into a simulation-ready financial structure, enabling risk and profitability modeling across thousands of scenarios.</a:t>
            </a:r>
          </a:p>
        </p:txBody>
      </p:sp>
    </p:spTree>
    <p:extLst>
      <p:ext uri="{BB962C8B-B14F-4D97-AF65-F5344CB8AC3E}">
        <p14:creationId xmlns:p14="http://schemas.microsoft.com/office/powerpoint/2010/main" val="3269746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119D7-C538-043E-E196-E693706E1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639" y="718866"/>
            <a:ext cx="11123306" cy="1307592"/>
          </a:xfrm>
        </p:spPr>
        <p:txBody>
          <a:bodyPr>
            <a:noAutofit/>
          </a:bodyPr>
          <a:lstStyle/>
          <a:p>
            <a:r>
              <a:rPr lang="en-US" sz="3400" dirty="0"/>
              <a:t>Monte Carlo Simulation: Measuring Profitability </a:t>
            </a:r>
            <a:br>
              <a:rPr lang="en-US" sz="3400" dirty="0"/>
            </a:br>
            <a:r>
              <a:rPr lang="en-US" sz="3400" dirty="0"/>
              <a:t>&amp; Risk Under Real World Uncertainty</a:t>
            </a:r>
            <a:br>
              <a:rPr lang="en-US" sz="3400" dirty="0"/>
            </a:br>
            <a:endParaRPr lang="en-IN" sz="3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73E0A-E37D-0688-7DAF-7D55AD07B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130" y="1713779"/>
            <a:ext cx="2703923" cy="3995065"/>
          </a:xfrm>
        </p:spPr>
        <p:txBody>
          <a:bodyPr>
            <a:normAutofit/>
          </a:bodyPr>
          <a:lstStyle/>
          <a:p>
            <a:pPr algn="just"/>
            <a:r>
              <a:rPr lang="en-US" sz="1400" dirty="0">
                <a:latin typeface="+mj-lt"/>
              </a:rPr>
              <a:t>Traditional unit economics assume fixed costs. But in reality, rider payouts, CAC, refunds, packaging, and AOV fluctuate daily.</a:t>
            </a:r>
          </a:p>
          <a:p>
            <a:pPr algn="just"/>
            <a:r>
              <a:rPr lang="en-US" sz="1400" dirty="0">
                <a:latin typeface="+mj-lt"/>
              </a:rPr>
              <a:t>Monte Carlo simulation introduces </a:t>
            </a:r>
            <a:r>
              <a:rPr lang="en-US" sz="1400" i="1" dirty="0">
                <a:latin typeface="+mj-lt"/>
              </a:rPr>
              <a:t>probability</a:t>
            </a:r>
            <a:r>
              <a:rPr lang="en-US" sz="1400" dirty="0">
                <a:latin typeface="+mj-lt"/>
              </a:rPr>
              <a:t> into the equation — generating thousands of possible outcomes instead of just one number.</a:t>
            </a:r>
          </a:p>
          <a:p>
            <a:pPr algn="just"/>
            <a:r>
              <a:rPr lang="en-US" sz="1400" dirty="0">
                <a:latin typeface="+mj-lt"/>
              </a:rPr>
              <a:t>This allows Zomato to measure profit volatility, downside risk, and sensitivity to operational changes.</a:t>
            </a:r>
          </a:p>
          <a:p>
            <a:pPr algn="just"/>
            <a:endParaRPr lang="en-IN" sz="1400" dirty="0">
              <a:latin typeface="+mj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59B160D-FF31-FAE4-9447-DDE70044A50E}"/>
              </a:ext>
            </a:extLst>
          </p:cNvPr>
          <p:cNvCxnSpPr>
            <a:cxnSpLocks/>
          </p:cNvCxnSpPr>
          <p:nvPr/>
        </p:nvCxnSpPr>
        <p:spPr>
          <a:xfrm>
            <a:off x="3341297" y="1782791"/>
            <a:ext cx="0" cy="415793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9401BE9-D992-C4EA-C49F-7C317D9B9D3B}"/>
              </a:ext>
            </a:extLst>
          </p:cNvPr>
          <p:cNvSpPr txBox="1">
            <a:spLocks/>
          </p:cNvSpPr>
          <p:nvPr/>
        </p:nvSpPr>
        <p:spPr>
          <a:xfrm>
            <a:off x="3278031" y="1705151"/>
            <a:ext cx="5699192" cy="45986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1400" b="1" dirty="0">
                <a:latin typeface="+mj-lt"/>
              </a:rPr>
              <a:t>How the Simulator Runs (Step-by-Step):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+mj-lt"/>
              </a:rPr>
              <a:t>Randomly generates 10,000 “virtual orders”</a:t>
            </a:r>
            <a:br>
              <a:rPr lang="en-US" sz="1400" dirty="0">
                <a:latin typeface="+mj-lt"/>
              </a:rPr>
            </a:br>
            <a:r>
              <a:rPr lang="en-US" sz="1400" dirty="0">
                <a:latin typeface="+mj-lt"/>
              </a:rPr>
              <a:t>Each order has:</a:t>
            </a:r>
          </a:p>
          <a:p>
            <a:pPr lvl="1">
              <a:spcBef>
                <a:spcPts val="0"/>
              </a:spcBef>
            </a:pPr>
            <a:r>
              <a:rPr lang="en-US" sz="1400" dirty="0">
                <a:latin typeface="+mj-lt"/>
              </a:rPr>
              <a:t>AOV drawn from a Normal distribution</a:t>
            </a:r>
          </a:p>
          <a:p>
            <a:pPr lvl="1">
              <a:spcBef>
                <a:spcPts val="0"/>
              </a:spcBef>
            </a:pPr>
            <a:r>
              <a:rPr lang="en-US" sz="1400" dirty="0">
                <a:latin typeface="+mj-lt"/>
              </a:rPr>
              <a:t>Rider cost drawn from a Normal distribution</a:t>
            </a:r>
          </a:p>
          <a:p>
            <a:pPr lvl="1">
              <a:spcBef>
                <a:spcPts val="0"/>
              </a:spcBef>
            </a:pPr>
            <a:r>
              <a:rPr lang="en-US" sz="1400" dirty="0">
                <a:latin typeface="+mj-lt"/>
              </a:rPr>
              <a:t>CAC drawn from a Normal distribution</a:t>
            </a:r>
          </a:p>
          <a:p>
            <a:pPr lvl="1">
              <a:spcBef>
                <a:spcPts val="0"/>
              </a:spcBef>
            </a:pPr>
            <a:r>
              <a:rPr lang="en-US" sz="1400" dirty="0">
                <a:latin typeface="+mj-lt"/>
              </a:rPr>
              <a:t>Refund occurrence drawn from a Bernoulli distribution (0 or 1)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+mj-lt"/>
              </a:rPr>
              <a:t>Applies the Golden Equation</a:t>
            </a:r>
            <a:r>
              <a:rPr lang="en-US" sz="1400" dirty="0">
                <a:latin typeface="+mj-lt"/>
              </a:rPr>
              <a:t> to every order</a:t>
            </a:r>
            <a:br>
              <a:rPr lang="en-US" sz="1400" dirty="0">
                <a:latin typeface="+mj-lt"/>
              </a:rPr>
            </a:br>
            <a:r>
              <a:rPr lang="en-US" sz="1400" dirty="0">
                <a:latin typeface="+mj-lt"/>
              </a:rPr>
              <a:t>Net Profit = Revenue – Costs</a:t>
            </a:r>
            <a:br>
              <a:rPr lang="en-US" sz="1400" dirty="0">
                <a:latin typeface="+mj-lt"/>
              </a:rPr>
            </a:br>
            <a:r>
              <a:rPr lang="en-US" sz="1400" dirty="0">
                <a:latin typeface="+mj-lt"/>
              </a:rPr>
              <a:t>(using that order’s random variables)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+mj-lt"/>
              </a:rPr>
              <a:t>Creates a Profit Distribution</a:t>
            </a:r>
            <a:br>
              <a:rPr lang="en-US" sz="1400" dirty="0">
                <a:latin typeface="+mj-lt"/>
              </a:rPr>
            </a:br>
            <a:r>
              <a:rPr lang="en-US" sz="1400" dirty="0">
                <a:latin typeface="+mj-lt"/>
              </a:rPr>
              <a:t>Instead of one number, you get a curve of outcomes (your bell-shaped graph).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+mj-lt"/>
              </a:rPr>
              <a:t>Calculates Key Risk Metrics:</a:t>
            </a:r>
            <a:endParaRPr lang="en-US" sz="1400" dirty="0">
              <a:latin typeface="+mj-lt"/>
            </a:endParaRPr>
          </a:p>
          <a:p>
            <a:pPr lvl="1">
              <a:spcBef>
                <a:spcPts val="0"/>
              </a:spcBef>
            </a:pPr>
            <a:r>
              <a:rPr lang="en-US" sz="1400" dirty="0">
                <a:latin typeface="+mj-lt"/>
              </a:rPr>
              <a:t>Average profit per order</a:t>
            </a:r>
          </a:p>
          <a:p>
            <a:pPr lvl="1">
              <a:spcBef>
                <a:spcPts val="0"/>
              </a:spcBef>
            </a:pPr>
            <a:r>
              <a:rPr lang="en-US" sz="1400" dirty="0">
                <a:latin typeface="+mj-lt"/>
              </a:rPr>
              <a:t>Probability of loss (profit &lt; 0)</a:t>
            </a:r>
          </a:p>
          <a:p>
            <a:pPr lvl="1">
              <a:spcBef>
                <a:spcPts val="0"/>
              </a:spcBef>
            </a:pPr>
            <a:r>
              <a:rPr lang="en-US" sz="1400" dirty="0">
                <a:latin typeface="+mj-lt"/>
              </a:rPr>
              <a:t>Range of best-case and worst-case outcomes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+mj-lt"/>
              </a:rPr>
              <a:t>Scales this to Monthly Profit</a:t>
            </a:r>
            <a:r>
              <a:rPr lang="en-US" sz="1400" dirty="0">
                <a:latin typeface="+mj-lt"/>
              </a:rPr>
              <a:t> using FY24 volumes (~66M orders per month)</a:t>
            </a:r>
          </a:p>
          <a:p>
            <a:pPr algn="just">
              <a:spcBef>
                <a:spcPts val="0"/>
              </a:spcBef>
            </a:pPr>
            <a:endParaRPr lang="en-IN" sz="1400" dirty="0">
              <a:latin typeface="+mj-lt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78E7DA-B648-620F-8A54-19C09F871FC4}"/>
              </a:ext>
            </a:extLst>
          </p:cNvPr>
          <p:cNvCxnSpPr>
            <a:cxnSpLocks/>
          </p:cNvCxnSpPr>
          <p:nvPr/>
        </p:nvCxnSpPr>
        <p:spPr>
          <a:xfrm>
            <a:off x="8876566" y="1713779"/>
            <a:ext cx="0" cy="430170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258DF9-B2E5-5E05-96D5-2F31BE44D8EE}"/>
              </a:ext>
            </a:extLst>
          </p:cNvPr>
          <p:cNvSpPr txBox="1">
            <a:spLocks/>
          </p:cNvSpPr>
          <p:nvPr/>
        </p:nvSpPr>
        <p:spPr>
          <a:xfrm>
            <a:off x="8833450" y="1736782"/>
            <a:ext cx="3341298" cy="42873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1400" b="1" dirty="0">
                <a:latin typeface="+mj-lt"/>
              </a:rPr>
              <a:t>Why Monte Carlo Is Valuable for Food Delivery: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+mj-lt"/>
              </a:rPr>
              <a:t>Captures real operational uncertainty</a:t>
            </a:r>
            <a:br>
              <a:rPr lang="en-US" sz="1400" dirty="0">
                <a:latin typeface="+mj-lt"/>
              </a:rPr>
            </a:br>
            <a:r>
              <a:rPr lang="en-US" sz="1400" dirty="0">
                <a:latin typeface="+mj-lt"/>
              </a:rPr>
              <a:t>Rider with rain, traffic, peak costs vary ours.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+mj-lt"/>
              </a:rPr>
              <a:t>Models edge cases</a:t>
            </a:r>
            <a:br>
              <a:rPr lang="en-US" sz="1400" dirty="0">
                <a:latin typeface="+mj-lt"/>
              </a:rPr>
            </a:br>
            <a:r>
              <a:rPr lang="en-US" sz="1400" dirty="0">
                <a:latin typeface="+mj-lt"/>
              </a:rPr>
              <a:t>High refund days, spikes in CAC, festival demand.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+mj-lt"/>
              </a:rPr>
              <a:t>Shows the downside risk of decisions</a:t>
            </a:r>
            <a:br>
              <a:rPr lang="en-US" sz="1400" dirty="0">
                <a:latin typeface="+mj-lt"/>
              </a:rPr>
            </a:br>
            <a:r>
              <a:rPr lang="en-US" sz="1400" dirty="0">
                <a:latin typeface="+mj-lt"/>
              </a:rPr>
              <a:t>Example: Increasing delivery fee lowers loss risk but reduces order volume.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+mj-lt"/>
              </a:rPr>
              <a:t>Helps design pricing, commissions, and incentives</a:t>
            </a:r>
            <a:br>
              <a:rPr lang="en-US" sz="1400" dirty="0">
                <a:latin typeface="+mj-lt"/>
              </a:rPr>
            </a:br>
            <a:r>
              <a:rPr lang="en-US" sz="1400" dirty="0">
                <a:latin typeface="+mj-lt"/>
              </a:rPr>
              <a:t>By seeing which variables matter most.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+mj-lt"/>
              </a:rPr>
              <a:t>Transforms unit economics from static to probabilistic</a:t>
            </a:r>
            <a:endParaRPr lang="en-US" sz="1400" dirty="0">
              <a:latin typeface="+mj-lt"/>
            </a:endParaRPr>
          </a:p>
          <a:p>
            <a:pPr>
              <a:spcBef>
                <a:spcPts val="0"/>
              </a:spcBef>
            </a:pPr>
            <a:endParaRPr lang="en-IN" sz="1400" dirty="0">
              <a:latin typeface="+mj-lt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46975F9-84C6-88E5-3AE6-760C1F3ECF6B}"/>
              </a:ext>
            </a:extLst>
          </p:cNvPr>
          <p:cNvSpPr txBox="1">
            <a:spLocks/>
          </p:cNvSpPr>
          <p:nvPr/>
        </p:nvSpPr>
        <p:spPr>
          <a:xfrm>
            <a:off x="723639" y="6093127"/>
            <a:ext cx="10726490" cy="8636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200" i="1" dirty="0">
                <a:latin typeface="+mj-lt"/>
              </a:rPr>
              <a:t>Monte Carlo simulation converts Zomato’s unit economics into a predictive risk engine — enabling smarter decisions on pricing, incentives, and profitability levers.</a:t>
            </a:r>
          </a:p>
          <a:p>
            <a:pPr marL="0" indent="0" algn="just">
              <a:buNone/>
            </a:pPr>
            <a:endParaRPr lang="en-IN" sz="1200" i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99661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EDBC7-0BAF-DB30-7545-846E47B76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Baseline Simulation Results (10,000 Orders)</a:t>
            </a:r>
            <a:br>
              <a:rPr lang="en-US" dirty="0"/>
            </a:br>
            <a:endParaRPr lang="en-IN" dirty="0"/>
          </a:p>
        </p:txBody>
      </p:sp>
      <p:pic>
        <p:nvPicPr>
          <p:cNvPr id="5" name="Content Placeholder 4" descr="A graph with a line graph&#10;&#10;AI-generated content may be incorrect.">
            <a:extLst>
              <a:ext uri="{FF2B5EF4-FFF2-40B4-BE49-F238E27FC236}">
                <a16:creationId xmlns:a16="http://schemas.microsoft.com/office/drawing/2014/main" id="{064A0CE1-3C0F-4203-9089-EC8CCAAB5E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2765" y="1833462"/>
            <a:ext cx="5451894" cy="4265201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BF3487-1B08-9B75-45B4-1B7B9EAF7D64}"/>
              </a:ext>
            </a:extLst>
          </p:cNvPr>
          <p:cNvSpPr txBox="1"/>
          <p:nvPr/>
        </p:nvSpPr>
        <p:spPr>
          <a:xfrm>
            <a:off x="989162" y="1852269"/>
            <a:ext cx="2035835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400" b="1" dirty="0">
                <a:latin typeface="+mj-lt"/>
              </a:rPr>
              <a:t>Baseline (FY24 Inputs):</a:t>
            </a:r>
            <a:endParaRPr lang="en-IN" sz="1400" dirty="0">
              <a:latin typeface="+mj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dirty="0" err="1">
                <a:latin typeface="+mj-lt"/>
              </a:rPr>
              <a:t>Avg</a:t>
            </a:r>
            <a:r>
              <a:rPr lang="en-IN" sz="1400" dirty="0">
                <a:latin typeface="+mj-lt"/>
              </a:rPr>
              <a:t> Profit/order: </a:t>
            </a:r>
            <a:r>
              <a:rPr lang="en-IN" sz="1400" b="1" dirty="0">
                <a:latin typeface="+mj-lt"/>
              </a:rPr>
              <a:t>₹48.26</a:t>
            </a:r>
            <a:endParaRPr lang="en-IN" sz="1400" dirty="0">
              <a:latin typeface="+mj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+mj-lt"/>
              </a:rPr>
              <a:t>Loss Risk: </a:t>
            </a:r>
            <a:r>
              <a:rPr lang="en-IN" sz="1400" b="1" dirty="0">
                <a:latin typeface="+mj-lt"/>
              </a:rPr>
              <a:t>2.20%</a:t>
            </a:r>
            <a:endParaRPr lang="en-IN" sz="1400" dirty="0">
              <a:latin typeface="+mj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+mj-lt"/>
              </a:rPr>
              <a:t>5th–95th Percentile Range: </a:t>
            </a:r>
            <a:r>
              <a:rPr lang="en-IN" sz="1400" b="1" dirty="0">
                <a:latin typeface="+mj-lt"/>
              </a:rPr>
              <a:t>₹10 → ₹100</a:t>
            </a:r>
            <a:endParaRPr lang="en-IN" sz="1400" dirty="0">
              <a:latin typeface="+mj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+mj-lt"/>
              </a:rPr>
              <a:t>Monthly Orders: </a:t>
            </a:r>
            <a:r>
              <a:rPr lang="en-IN" sz="1400" b="1" dirty="0">
                <a:latin typeface="+mj-lt"/>
              </a:rPr>
              <a:t>~66M</a:t>
            </a:r>
            <a:endParaRPr lang="en-IN" sz="1400" dirty="0">
              <a:latin typeface="+mj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+mj-lt"/>
              </a:rPr>
              <a:t>Monthly Profit: </a:t>
            </a:r>
            <a:r>
              <a:rPr lang="en-IN" sz="1400" b="1" dirty="0">
                <a:latin typeface="+mj-lt"/>
              </a:rPr>
              <a:t>₹318.5 Cr</a:t>
            </a:r>
            <a:endParaRPr lang="en-IN" sz="1400" dirty="0">
              <a:latin typeface="+mj-lt"/>
            </a:endParaRPr>
          </a:p>
          <a:p>
            <a:pPr algn="just"/>
            <a:endParaRPr lang="en-IN" sz="1400" b="1" dirty="0">
              <a:latin typeface="+mj-lt"/>
            </a:endParaRPr>
          </a:p>
          <a:p>
            <a:pPr algn="just"/>
            <a:r>
              <a:rPr lang="en-IN" sz="1400" b="1" dirty="0">
                <a:latin typeface="+mj-lt"/>
              </a:rPr>
              <a:t>Interpretation:</a:t>
            </a:r>
            <a:endParaRPr lang="en-IN" sz="1400" dirty="0">
              <a:latin typeface="+mj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+mj-lt"/>
              </a:rPr>
              <a:t>Unit economics are </a:t>
            </a:r>
            <a:r>
              <a:rPr lang="en-IN" sz="1400" b="1" dirty="0">
                <a:latin typeface="+mj-lt"/>
              </a:rPr>
              <a:t>solidly profitable</a:t>
            </a:r>
            <a:r>
              <a:rPr lang="en-IN" sz="1400" dirty="0">
                <a:latin typeface="+mj-lt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+mj-lt"/>
              </a:rPr>
              <a:t>Loss-making orders are </a:t>
            </a:r>
            <a:r>
              <a:rPr lang="en-IN" sz="1400" b="1" dirty="0">
                <a:latin typeface="+mj-lt"/>
              </a:rPr>
              <a:t>rare (~2%)</a:t>
            </a:r>
            <a:r>
              <a:rPr lang="en-IN" sz="1400" dirty="0">
                <a:latin typeface="+mj-lt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+mj-lt"/>
              </a:rPr>
              <a:t>Profit distribution is </a:t>
            </a:r>
            <a:r>
              <a:rPr lang="en-IN" sz="1400" b="1" dirty="0">
                <a:latin typeface="+mj-lt"/>
              </a:rPr>
              <a:t>stable + predictable</a:t>
            </a:r>
            <a:r>
              <a:rPr lang="en-IN" sz="1400" dirty="0">
                <a:latin typeface="+mj-lt"/>
              </a:rPr>
              <a:t>.</a:t>
            </a:r>
          </a:p>
          <a:p>
            <a:pPr algn="just"/>
            <a:endParaRPr lang="en-IN" sz="1400" dirty="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5F5651-8EF2-CF0F-E756-8F320C4C2753}"/>
              </a:ext>
            </a:extLst>
          </p:cNvPr>
          <p:cNvSpPr txBox="1"/>
          <p:nvPr/>
        </p:nvSpPr>
        <p:spPr>
          <a:xfrm>
            <a:off x="8747447" y="2260590"/>
            <a:ext cx="1990544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b="1" dirty="0">
                <a:latin typeface="+mj-lt"/>
              </a:rPr>
              <a:t>What the Curve Shows:</a:t>
            </a:r>
            <a:endParaRPr lang="en-US" sz="1400" dirty="0">
              <a:latin typeface="+mj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Most orders cluster at </a:t>
            </a:r>
            <a:r>
              <a:rPr lang="en-US" sz="1400" b="1" dirty="0">
                <a:latin typeface="+mj-lt"/>
              </a:rPr>
              <a:t>₹45– ₹60 profit</a:t>
            </a:r>
            <a:r>
              <a:rPr lang="en-US" sz="1400" dirty="0">
                <a:latin typeface="+mj-lt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Upside driven by efficient delivery days.</a:t>
            </a:r>
          </a:p>
          <a:p>
            <a:pPr algn="just"/>
            <a:r>
              <a:rPr lang="en-US" sz="1400" b="1" dirty="0">
                <a:latin typeface="+mj-lt"/>
              </a:rPr>
              <a:t>Implications:</a:t>
            </a:r>
            <a:endParaRPr lang="en-US" sz="1400" dirty="0">
              <a:latin typeface="+mj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Strong baseline before optimization.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>
                <a:latin typeface="+mj-lt"/>
              </a:rPr>
              <a:t>Rider volatility</a:t>
            </a:r>
            <a:r>
              <a:rPr lang="en-US" sz="1400" dirty="0">
                <a:latin typeface="+mj-lt"/>
              </a:rPr>
              <a:t>, </a:t>
            </a:r>
            <a:r>
              <a:rPr lang="en-US" sz="1400" b="1" dirty="0">
                <a:latin typeface="+mj-lt"/>
              </a:rPr>
              <a:t>refunds</a:t>
            </a:r>
            <a:r>
              <a:rPr lang="en-US" sz="1400" dirty="0">
                <a:latin typeface="+mj-lt"/>
              </a:rPr>
              <a:t>, and </a:t>
            </a:r>
            <a:r>
              <a:rPr lang="en-US" sz="1400" b="1" dirty="0">
                <a:latin typeface="+mj-lt"/>
              </a:rPr>
              <a:t>CAC</a:t>
            </a:r>
            <a:r>
              <a:rPr lang="en-US" sz="1400" dirty="0">
                <a:latin typeface="+mj-lt"/>
              </a:rPr>
              <a:t> are the </a:t>
            </a:r>
            <a:r>
              <a:rPr lang="en-US" sz="1400" b="1" dirty="0">
                <a:latin typeface="+mj-lt"/>
              </a:rPr>
              <a:t>biggest levers</a:t>
            </a:r>
            <a:r>
              <a:rPr lang="en-US" sz="1400" dirty="0">
                <a:latin typeface="+mj-lt"/>
              </a:rPr>
              <a:t>.</a:t>
            </a:r>
          </a:p>
          <a:p>
            <a:pPr algn="just"/>
            <a:endParaRPr lang="en-IN" sz="1400" dirty="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F9959C-485F-BF0C-BCC7-86B9E2F7786F}"/>
              </a:ext>
            </a:extLst>
          </p:cNvPr>
          <p:cNvSpPr txBox="1"/>
          <p:nvPr/>
        </p:nvSpPr>
        <p:spPr>
          <a:xfrm>
            <a:off x="989162" y="6098663"/>
            <a:ext cx="100526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Baseline FY24 economics show strong profitability with limited downside risk.</a:t>
            </a:r>
          </a:p>
          <a:p>
            <a:endParaRPr lang="en-IN" sz="1200" i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21CCA7-D8A6-9BE0-BC2B-3DF0D10E27E9}"/>
              </a:ext>
            </a:extLst>
          </p:cNvPr>
          <p:cNvSpPr txBox="1"/>
          <p:nvPr/>
        </p:nvSpPr>
        <p:spPr>
          <a:xfrm>
            <a:off x="4318961" y="1550421"/>
            <a:ext cx="31975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/>
              <a:t>Baseline Profit Curve (10,000 Orders)</a:t>
            </a:r>
          </a:p>
        </p:txBody>
      </p:sp>
    </p:spTree>
    <p:extLst>
      <p:ext uri="{BB962C8B-B14F-4D97-AF65-F5344CB8AC3E}">
        <p14:creationId xmlns:p14="http://schemas.microsoft.com/office/powerpoint/2010/main" val="3340486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35042-6AF1-F940-C722-5E9150474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Scenario Testing: Evaluating Profit &amp; Risk Impact Across Five Strategic Levers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9DB7B-E7F8-DE5D-BB27-04E27A667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>
                <a:latin typeface="+mj-lt"/>
              </a:rPr>
              <a:t>Using Monte Carlo, we test how changes to pricing, refunds, rider costs, CAC, and commissions shift profitability and downside risk.</a:t>
            </a:r>
          </a:p>
          <a:p>
            <a:pPr marL="0" indent="0">
              <a:buNone/>
            </a:pPr>
            <a:endParaRPr lang="en-IN" sz="14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47B87F-2B5A-7A13-10CF-1070DEF60C41}"/>
              </a:ext>
            </a:extLst>
          </p:cNvPr>
          <p:cNvSpPr txBox="1"/>
          <p:nvPr/>
        </p:nvSpPr>
        <p:spPr>
          <a:xfrm>
            <a:off x="700635" y="2645390"/>
            <a:ext cx="3002973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latin typeface="+mj-lt"/>
              </a:rPr>
              <a:t>Lever A — Delivery Fee (+₹5)</a:t>
            </a:r>
          </a:p>
          <a:p>
            <a:pPr>
              <a:buNone/>
            </a:pPr>
            <a:r>
              <a:rPr lang="en-IN" sz="1400" b="1" dirty="0">
                <a:latin typeface="+mj-lt"/>
              </a:rPr>
              <a:t>Goal:</a:t>
            </a:r>
            <a:r>
              <a:rPr lang="en-IN" sz="1400" dirty="0">
                <a:latin typeface="+mj-lt"/>
              </a:rPr>
              <a:t> Increase per-order revenue</a:t>
            </a:r>
            <a:br>
              <a:rPr lang="en-IN" sz="1400" dirty="0">
                <a:latin typeface="+mj-lt"/>
              </a:rPr>
            </a:br>
            <a:r>
              <a:rPr lang="en-IN" sz="1400" b="1" dirty="0">
                <a:latin typeface="+mj-lt"/>
              </a:rPr>
              <a:t>Risk:</a:t>
            </a:r>
            <a:r>
              <a:rPr lang="en-IN" sz="1400" dirty="0">
                <a:latin typeface="+mj-lt"/>
              </a:rPr>
              <a:t> Slight customer churn</a:t>
            </a:r>
          </a:p>
          <a:p>
            <a:pPr>
              <a:buNone/>
            </a:pPr>
            <a:endParaRPr lang="en-IN" sz="1400" dirty="0">
              <a:latin typeface="+mj-lt"/>
            </a:endParaRPr>
          </a:p>
          <a:p>
            <a:pPr>
              <a:buNone/>
            </a:pPr>
            <a:r>
              <a:rPr lang="en-IN" sz="1400" b="1" dirty="0">
                <a:latin typeface="+mj-lt"/>
              </a:rPr>
              <a:t>Lever B — Refund Probability (2% → 1%)</a:t>
            </a:r>
          </a:p>
          <a:p>
            <a:pPr>
              <a:buNone/>
            </a:pPr>
            <a:r>
              <a:rPr lang="en-IN" sz="1400" b="1" dirty="0">
                <a:latin typeface="+mj-lt"/>
              </a:rPr>
              <a:t>Goal:</a:t>
            </a:r>
            <a:r>
              <a:rPr lang="en-IN" sz="1400" dirty="0">
                <a:latin typeface="+mj-lt"/>
              </a:rPr>
              <a:t> Reduce refund-related losses</a:t>
            </a:r>
            <a:br>
              <a:rPr lang="en-IN" sz="1400" dirty="0">
                <a:latin typeface="+mj-lt"/>
              </a:rPr>
            </a:br>
            <a:r>
              <a:rPr lang="en-IN" sz="1400" b="1" dirty="0">
                <a:latin typeface="+mj-lt"/>
              </a:rPr>
              <a:t>Risk:</a:t>
            </a:r>
            <a:r>
              <a:rPr lang="en-IN" sz="1400" dirty="0">
                <a:latin typeface="+mj-lt"/>
              </a:rPr>
              <a:t> Lower new-user trust if refund policies tighten</a:t>
            </a:r>
          </a:p>
          <a:p>
            <a:pPr>
              <a:buNone/>
            </a:pPr>
            <a:endParaRPr lang="en-IN" sz="1400" dirty="0">
              <a:latin typeface="+mj-lt"/>
            </a:endParaRPr>
          </a:p>
          <a:p>
            <a:pPr>
              <a:buNone/>
            </a:pPr>
            <a:r>
              <a:rPr lang="en-IN" sz="1400" b="1" dirty="0">
                <a:latin typeface="+mj-lt"/>
              </a:rPr>
              <a:t>Lever C — Rider Cost Variance (SD 10 → 6)</a:t>
            </a:r>
          </a:p>
          <a:p>
            <a:pPr>
              <a:buNone/>
            </a:pPr>
            <a:r>
              <a:rPr lang="en-IN" sz="1400" b="1" dirty="0">
                <a:latin typeface="+mj-lt"/>
              </a:rPr>
              <a:t>Goal:</a:t>
            </a:r>
            <a:r>
              <a:rPr lang="en-IN" sz="1400" dirty="0">
                <a:latin typeface="+mj-lt"/>
              </a:rPr>
              <a:t> Stabilize delivery payouts</a:t>
            </a:r>
            <a:br>
              <a:rPr lang="en-IN" sz="1400" dirty="0">
                <a:latin typeface="+mj-lt"/>
              </a:rPr>
            </a:br>
            <a:r>
              <a:rPr lang="en-IN" sz="1400" b="1" dirty="0">
                <a:latin typeface="+mj-lt"/>
              </a:rPr>
              <a:t>Risk:</a:t>
            </a:r>
            <a:r>
              <a:rPr lang="en-IN" sz="1400" dirty="0">
                <a:latin typeface="+mj-lt"/>
              </a:rPr>
              <a:t> Potential rider dissatisfaction / slower supply response</a:t>
            </a:r>
          </a:p>
          <a:p>
            <a:pPr>
              <a:buNone/>
            </a:pPr>
            <a:br>
              <a:rPr lang="en-IN" sz="1400" dirty="0">
                <a:latin typeface="+mj-lt"/>
              </a:rPr>
            </a:br>
            <a:endParaRPr lang="en-IN" sz="1400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20D22E-EAB9-DA11-1827-9C3359D37B23}"/>
              </a:ext>
            </a:extLst>
          </p:cNvPr>
          <p:cNvSpPr txBox="1"/>
          <p:nvPr/>
        </p:nvSpPr>
        <p:spPr>
          <a:xfrm>
            <a:off x="3577086" y="2610884"/>
            <a:ext cx="317738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latin typeface="+mj-lt"/>
              </a:rPr>
              <a:t>Lever D — Reduce CAC (₹20 → ₹10)</a:t>
            </a:r>
          </a:p>
          <a:p>
            <a:pPr>
              <a:buNone/>
            </a:pPr>
            <a:r>
              <a:rPr lang="en-IN" sz="1400" b="1" dirty="0">
                <a:latin typeface="+mj-lt"/>
              </a:rPr>
              <a:t>Goal:</a:t>
            </a:r>
            <a:r>
              <a:rPr lang="en-IN" sz="1400" dirty="0">
                <a:latin typeface="+mj-lt"/>
              </a:rPr>
              <a:t> Lower marketing spend per order</a:t>
            </a:r>
            <a:br>
              <a:rPr lang="en-IN" sz="1400" dirty="0">
                <a:latin typeface="+mj-lt"/>
              </a:rPr>
            </a:br>
            <a:r>
              <a:rPr lang="en-IN" sz="1400" b="1" dirty="0">
                <a:latin typeface="+mj-lt"/>
              </a:rPr>
              <a:t>Risk:</a:t>
            </a:r>
            <a:r>
              <a:rPr lang="en-IN" sz="1400" dirty="0">
                <a:latin typeface="+mj-lt"/>
              </a:rPr>
              <a:t> Slower user growth</a:t>
            </a:r>
          </a:p>
          <a:p>
            <a:pPr>
              <a:buNone/>
            </a:pPr>
            <a:endParaRPr lang="en-IN" sz="1400" dirty="0">
              <a:latin typeface="+mj-lt"/>
            </a:endParaRPr>
          </a:p>
          <a:p>
            <a:pPr>
              <a:buNone/>
            </a:pPr>
            <a:r>
              <a:rPr lang="en-IN" sz="1400" b="1" dirty="0">
                <a:latin typeface="+mj-lt"/>
              </a:rPr>
              <a:t>Lever E — Increase Commission (22.5% → 25%)</a:t>
            </a:r>
          </a:p>
          <a:p>
            <a:pPr>
              <a:buNone/>
            </a:pPr>
            <a:r>
              <a:rPr lang="en-IN" sz="1400" b="1" dirty="0">
                <a:latin typeface="+mj-lt"/>
              </a:rPr>
              <a:t>Goal:</a:t>
            </a:r>
            <a:r>
              <a:rPr lang="en-IN" sz="1400" dirty="0">
                <a:latin typeface="+mj-lt"/>
              </a:rPr>
              <a:t> Increase take rate from restaurants</a:t>
            </a:r>
            <a:br>
              <a:rPr lang="en-IN" sz="1400" dirty="0">
                <a:latin typeface="+mj-lt"/>
              </a:rPr>
            </a:br>
            <a:r>
              <a:rPr lang="en-IN" sz="1400" b="1" dirty="0">
                <a:latin typeface="+mj-lt"/>
              </a:rPr>
              <a:t>Risk:</a:t>
            </a:r>
            <a:r>
              <a:rPr lang="en-IN" sz="1400" dirty="0">
                <a:latin typeface="+mj-lt"/>
              </a:rPr>
              <a:t> Possible restaurant churn to competitors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731ADE-BC9F-919F-8478-9A61DC404539}"/>
              </a:ext>
            </a:extLst>
          </p:cNvPr>
          <p:cNvCxnSpPr>
            <a:cxnSpLocks/>
          </p:cNvCxnSpPr>
          <p:nvPr/>
        </p:nvCxnSpPr>
        <p:spPr>
          <a:xfrm>
            <a:off x="3577087" y="2518913"/>
            <a:ext cx="0" cy="35828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3C5D2D4-C255-CD66-1800-31999DE84DE6}"/>
              </a:ext>
            </a:extLst>
          </p:cNvPr>
          <p:cNvCxnSpPr>
            <a:cxnSpLocks/>
          </p:cNvCxnSpPr>
          <p:nvPr/>
        </p:nvCxnSpPr>
        <p:spPr>
          <a:xfrm>
            <a:off x="6754476" y="2504534"/>
            <a:ext cx="0" cy="35828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6E23A5A-D70B-5D91-DDF2-13E925A7AE6B}"/>
              </a:ext>
            </a:extLst>
          </p:cNvPr>
          <p:cNvSpPr txBox="1"/>
          <p:nvPr/>
        </p:nvSpPr>
        <p:spPr>
          <a:xfrm>
            <a:off x="6797616" y="2631055"/>
            <a:ext cx="3375801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latin typeface="+mj-lt"/>
              </a:rPr>
              <a:t>Why These 5? </a:t>
            </a:r>
          </a:p>
          <a:p>
            <a:pPr>
              <a:buNone/>
            </a:pPr>
            <a:r>
              <a:rPr lang="en-IN" sz="1400" dirty="0">
                <a:latin typeface="+mj-lt"/>
              </a:rPr>
              <a:t>These five variables create 90% of Zomato’s profit volatility:</a:t>
            </a:r>
          </a:p>
          <a:p>
            <a:pPr>
              <a:buNone/>
            </a:pPr>
            <a:endParaRPr lang="en-IN" sz="1400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+mj-lt"/>
              </a:rPr>
              <a:t>Delivery fee → revenue driver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+mj-lt"/>
              </a:rPr>
              <a:t>Refunds → pure downside loss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+mj-lt"/>
              </a:rPr>
              <a:t>Rider variance → operational unpredictability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+mj-lt"/>
              </a:rPr>
              <a:t>CAC → marketing efficiency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+mj-lt"/>
              </a:rPr>
              <a:t>Commission → platform monetization</a:t>
            </a:r>
          </a:p>
          <a:p>
            <a:endParaRPr lang="en-IN" sz="1400" dirty="0">
              <a:latin typeface="+mj-lt"/>
            </a:endParaRPr>
          </a:p>
          <a:p>
            <a:pPr>
              <a:buNone/>
            </a:pPr>
            <a:r>
              <a:rPr lang="en-IN" sz="1400" b="1" dirty="0">
                <a:latin typeface="+mj-lt"/>
              </a:rPr>
              <a:t>Together, they represent the core levers Zomato can realistically adjust.</a:t>
            </a:r>
            <a:endParaRPr lang="en-IN" sz="1400" dirty="0"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8FA5B0-220A-00B2-F8AD-DEE2CEF9CF69}"/>
              </a:ext>
            </a:extLst>
          </p:cNvPr>
          <p:cNvSpPr txBox="1"/>
          <p:nvPr/>
        </p:nvSpPr>
        <p:spPr>
          <a:xfrm>
            <a:off x="701614" y="6121870"/>
            <a:ext cx="104092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i="1" dirty="0"/>
              <a:t>These scenarios quantify how operational changes translate into profit shifts and risk reductions.</a:t>
            </a:r>
          </a:p>
        </p:txBody>
      </p:sp>
    </p:spTree>
    <p:extLst>
      <p:ext uri="{BB962C8B-B14F-4D97-AF65-F5344CB8AC3E}">
        <p14:creationId xmlns:p14="http://schemas.microsoft.com/office/powerpoint/2010/main" val="3993510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1AC9F-A79D-4200-A70F-330A27197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Scenario Results: Profitability &amp; Risk Comparison</a:t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25CDD8E-81A8-2F1B-5B4E-63FC67EAA4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2752223"/>
              </p:ext>
            </p:extLst>
          </p:nvPr>
        </p:nvGraphicFramePr>
        <p:xfrm>
          <a:off x="901370" y="2037762"/>
          <a:ext cx="6252804" cy="3810000"/>
        </p:xfrm>
        <a:graphic>
          <a:graphicData uri="http://schemas.openxmlformats.org/drawingml/2006/table">
            <a:tbl>
              <a:tblPr/>
              <a:tblGrid>
                <a:gridCol w="1563201">
                  <a:extLst>
                    <a:ext uri="{9D8B030D-6E8A-4147-A177-3AD203B41FA5}">
                      <a16:colId xmlns:a16="http://schemas.microsoft.com/office/drawing/2014/main" val="538064169"/>
                    </a:ext>
                  </a:extLst>
                </a:gridCol>
                <a:gridCol w="1563201">
                  <a:extLst>
                    <a:ext uri="{9D8B030D-6E8A-4147-A177-3AD203B41FA5}">
                      <a16:colId xmlns:a16="http://schemas.microsoft.com/office/drawing/2014/main" val="1429467439"/>
                    </a:ext>
                  </a:extLst>
                </a:gridCol>
                <a:gridCol w="1563201">
                  <a:extLst>
                    <a:ext uri="{9D8B030D-6E8A-4147-A177-3AD203B41FA5}">
                      <a16:colId xmlns:a16="http://schemas.microsoft.com/office/drawing/2014/main" val="1863919245"/>
                    </a:ext>
                  </a:extLst>
                </a:gridCol>
                <a:gridCol w="1563201">
                  <a:extLst>
                    <a:ext uri="{9D8B030D-6E8A-4147-A177-3AD203B41FA5}">
                      <a16:colId xmlns:a16="http://schemas.microsoft.com/office/drawing/2014/main" val="10541915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j-lt"/>
                        </a:rPr>
                        <a:t>Scenario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j-lt"/>
                        </a:rPr>
                        <a:t>Avg Profit / Order (₹)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+mj-lt"/>
                        </a:rPr>
                        <a:t>Loss Risk (%)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j-lt"/>
                        </a:rPr>
                        <a:t>Monthly Profit (₹ Cr)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1130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+mj-lt"/>
                        </a:rPr>
                        <a:t>Baseline (FY24)</a:t>
                      </a:r>
                      <a:endParaRPr lang="en-IN" sz="16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+mj-lt"/>
                        </a:rPr>
                        <a:t>48.26</a:t>
                      </a:r>
                      <a:endParaRPr lang="en-IN" sz="16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+mj-lt"/>
                        </a:rPr>
                        <a:t>2.20%</a:t>
                      </a:r>
                      <a:endParaRPr lang="en-IN" sz="16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+mj-lt"/>
                        </a:rPr>
                        <a:t>318.5</a:t>
                      </a:r>
                      <a:endParaRPr lang="en-IN" sz="16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20333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+mj-lt"/>
                        </a:rPr>
                        <a:t>A. +₹5 Delivery Fee</a:t>
                      </a:r>
                      <a:endParaRPr lang="en-IN" sz="160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j-lt"/>
                        </a:rPr>
                        <a:t>51.31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+mj-lt"/>
                        </a:rPr>
                        <a:t>1.82%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+mj-lt"/>
                        </a:rPr>
                        <a:t>328.5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16197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+mj-lt"/>
                        </a:rPr>
                        <a:t>B. Refund ↓ (2% → 1%)</a:t>
                      </a:r>
                      <a:endParaRPr lang="en-IN" sz="160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j-lt"/>
                        </a:rPr>
                        <a:t>52.70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+mj-lt"/>
                        </a:rPr>
                        <a:t>1.02%</a:t>
                      </a:r>
                      <a:endParaRPr lang="en-IN" sz="16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j-lt"/>
                        </a:rPr>
                        <a:t>337.4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04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+mj-lt"/>
                        </a:rPr>
                        <a:t>C. Rider Cost Variance ↓</a:t>
                      </a:r>
                      <a:endParaRPr lang="en-IN" sz="160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j-lt"/>
                        </a:rPr>
                        <a:t>47.49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+mj-lt"/>
                        </a:rPr>
                        <a:t>2.24%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j-lt"/>
                        </a:rPr>
                        <a:t>310.3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723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+mj-lt"/>
                        </a:rPr>
                        <a:t>D. CAC ↓ (₹20 → ₹10)</a:t>
                      </a:r>
                      <a:endParaRPr lang="en-IN" sz="160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+mj-lt"/>
                        </a:rPr>
                        <a:t>59.27</a:t>
                      </a:r>
                      <a:endParaRPr lang="en-IN" sz="16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+mj-lt"/>
                        </a:rPr>
                        <a:t>1.82%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+mj-lt"/>
                        </a:rPr>
                        <a:t>371.6</a:t>
                      </a:r>
                      <a:endParaRPr lang="en-IN" sz="160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16328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+mj-lt"/>
                        </a:rPr>
                        <a:t>E. Commission ↑ (22.5% → 25%)</a:t>
                      </a:r>
                      <a:endParaRPr lang="en-IN" sz="160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+mj-lt"/>
                        </a:rPr>
                        <a:t>58.24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+mj-lt"/>
                        </a:rPr>
                        <a:t>2.20%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+mj-lt"/>
                        </a:rPr>
                        <a:t>376.7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910441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A0E155D-E326-46A6-AB79-B33B55B50C17}"/>
              </a:ext>
            </a:extLst>
          </p:cNvPr>
          <p:cNvSpPr txBox="1"/>
          <p:nvPr/>
        </p:nvSpPr>
        <p:spPr>
          <a:xfrm>
            <a:off x="1109932" y="5841064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i="1" dirty="0">
                <a:latin typeface="+mj-lt"/>
              </a:rPr>
              <a:t>(All scenarios simulated using 10,000 Monte Carlo runs and scaled to FY24 monthly volumes)</a:t>
            </a:r>
            <a:endParaRPr lang="en-US" sz="1200" dirty="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C6E24F-4494-E9EA-A06C-13B09A755788}"/>
              </a:ext>
            </a:extLst>
          </p:cNvPr>
          <p:cNvSpPr txBox="1"/>
          <p:nvPr/>
        </p:nvSpPr>
        <p:spPr>
          <a:xfrm>
            <a:off x="7354909" y="2819377"/>
            <a:ext cx="386499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+mj-lt"/>
              </a:rPr>
              <a:t>Key Takeaways </a:t>
            </a:r>
          </a:p>
          <a:p>
            <a:pPr>
              <a:buNone/>
            </a:pPr>
            <a:endParaRPr lang="en-US" sz="1600" b="1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Biggest profit upside:</a:t>
            </a:r>
            <a:r>
              <a:rPr lang="en-US" sz="1600" dirty="0">
                <a:latin typeface="+mj-lt"/>
              </a:rPr>
              <a:t> Reducing CAC and increasing commission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Lowest downside risk:</a:t>
            </a:r>
            <a:r>
              <a:rPr lang="en-US" sz="1600" dirty="0">
                <a:latin typeface="+mj-lt"/>
              </a:rPr>
              <a:t> Reducing refund probability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Most stable economics:</a:t>
            </a:r>
            <a:r>
              <a:rPr lang="en-US" sz="1600" dirty="0">
                <a:latin typeface="+mj-lt"/>
              </a:rPr>
              <a:t> Lower rider cost variance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Trade-offs exist:</a:t>
            </a:r>
            <a:r>
              <a:rPr lang="en-US" sz="1600" dirty="0">
                <a:latin typeface="+mj-lt"/>
              </a:rPr>
              <a:t> Higher profits often come with churn or growth risk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09AFF7-E016-AC87-A212-B8F41494135B}"/>
              </a:ext>
            </a:extLst>
          </p:cNvPr>
          <p:cNvSpPr txBox="1"/>
          <p:nvPr/>
        </p:nvSpPr>
        <p:spPr>
          <a:xfrm>
            <a:off x="810883" y="6122873"/>
            <a:ext cx="103229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i="1" dirty="0">
                <a:latin typeface="+mj-lt"/>
              </a:rPr>
              <a:t>Not all profit levers are equal — CAC efficiency and refunds deliver the best risk-adjusted gains.</a:t>
            </a:r>
          </a:p>
        </p:txBody>
      </p:sp>
    </p:spTree>
    <p:extLst>
      <p:ext uri="{BB962C8B-B14F-4D97-AF65-F5344CB8AC3E}">
        <p14:creationId xmlns:p14="http://schemas.microsoft.com/office/powerpoint/2010/main" val="1846345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E9D11-86CD-2DB5-2ADD-B99B58185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Key Insights &amp; Strategic Recommendations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C4E38-11EE-CECC-2DAB-679D79596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100" y="1672777"/>
            <a:ext cx="4360194" cy="427082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+mj-lt"/>
              </a:rPr>
              <a:t>KEY INSIGHTS</a:t>
            </a:r>
          </a:p>
          <a:p>
            <a:r>
              <a:rPr lang="en-US" b="1" dirty="0">
                <a:latin typeface="+mj-lt"/>
              </a:rPr>
              <a:t>Zomato’s FY24 unit economics are structurally profitable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Baseline profit of ~₹48/order with low downside risk (~2%).</a:t>
            </a:r>
          </a:p>
          <a:p>
            <a:r>
              <a:rPr lang="en-US" b="1" dirty="0">
                <a:latin typeface="+mj-lt"/>
              </a:rPr>
              <a:t>Not all levers deliver equal risk-adjusted returns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Some increase profit but introduce churn or growth risk.</a:t>
            </a:r>
          </a:p>
          <a:p>
            <a:r>
              <a:rPr lang="en-US" b="1" dirty="0">
                <a:latin typeface="+mj-lt"/>
              </a:rPr>
              <a:t>Refund probability is the most effective risk reducer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Cutting refunds from 2% → 1% halves loss risk with minimal volume impact.</a:t>
            </a:r>
          </a:p>
          <a:p>
            <a:r>
              <a:rPr lang="en-US" b="1" dirty="0">
                <a:latin typeface="+mj-lt"/>
              </a:rPr>
              <a:t>CAC efficiency unlocks the largest profit upside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Reducing CAC delivers the highest improvement in monthly profit.</a:t>
            </a:r>
          </a:p>
          <a:p>
            <a:r>
              <a:rPr lang="en-US" b="1" dirty="0">
                <a:latin typeface="+mj-lt"/>
              </a:rPr>
              <a:t>Commission increases boost profit but carry ecosystem risk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Higher take rates risk restaurant churn over time.</a:t>
            </a:r>
          </a:p>
          <a:p>
            <a:endParaRPr lang="en-IN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22C57E-93FE-9577-60FC-33366966C6EB}"/>
              </a:ext>
            </a:extLst>
          </p:cNvPr>
          <p:cNvSpPr txBox="1"/>
          <p:nvPr/>
        </p:nvSpPr>
        <p:spPr>
          <a:xfrm>
            <a:off x="5160294" y="1672777"/>
            <a:ext cx="541569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1400" b="1" dirty="0">
                <a:latin typeface="+mj-lt"/>
              </a:rPr>
              <a:t>STRATEGIC RECOMMENDATIONS</a:t>
            </a:r>
          </a:p>
          <a:p>
            <a:pPr algn="just"/>
            <a:r>
              <a:rPr lang="en-US" sz="1400" b="1" dirty="0">
                <a:latin typeface="+mj-lt"/>
              </a:rPr>
              <a:t>1.  Prioritize Refund Reduction (Low Risk, High Stability)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Improve order accuracy, packaging standards, and customer communication.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Delivers the </a:t>
            </a:r>
            <a:r>
              <a:rPr lang="en-US" sz="1400" b="1" dirty="0">
                <a:latin typeface="+mj-lt"/>
              </a:rPr>
              <a:t>lowest loss risk (≈1%)</a:t>
            </a:r>
            <a:r>
              <a:rPr lang="en-US" sz="1400" dirty="0">
                <a:latin typeface="+mj-lt"/>
              </a:rPr>
              <a:t> with limited demand impact.</a:t>
            </a:r>
          </a:p>
          <a:p>
            <a:pPr algn="just"/>
            <a:r>
              <a:rPr lang="en-US" sz="1400" b="1" dirty="0">
                <a:latin typeface="+mj-lt"/>
              </a:rPr>
              <a:t>2.  Focus on CAC Efficiency, Not Absolute Cuts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Shift from blanket discounts to targeted, cohort-based incentives.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Preserves growth while capturing </a:t>
            </a:r>
            <a:r>
              <a:rPr lang="en-US" sz="1400" b="1" dirty="0">
                <a:latin typeface="+mj-lt"/>
              </a:rPr>
              <a:t>₹50+ Cr monthly upside</a:t>
            </a:r>
            <a:r>
              <a:rPr lang="en-US" sz="1400" dirty="0">
                <a:latin typeface="+mj-lt"/>
              </a:rPr>
              <a:t>.</a:t>
            </a:r>
          </a:p>
          <a:p>
            <a:pPr algn="just">
              <a:buNone/>
            </a:pPr>
            <a:r>
              <a:rPr lang="en-US" sz="1400" b="1" dirty="0">
                <a:latin typeface="+mj-lt"/>
              </a:rPr>
              <a:t>3. Use Delivery Fee Increases Selectively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Apply dynamic pricing during peak demand and high congestion periods.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Increases profitability without broad-based churn.</a:t>
            </a:r>
          </a:p>
          <a:p>
            <a:pPr algn="just">
              <a:buNone/>
            </a:pPr>
            <a:r>
              <a:rPr lang="en-US" sz="1400" b="1" dirty="0">
                <a:latin typeface="+mj-lt"/>
              </a:rPr>
              <a:t>4. Treat Commission Increases as a Secondary Lever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Pair higher commissions with restaurant value-adds (ads, analytics).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Avoid long-term platform disintermediation risk.</a:t>
            </a:r>
          </a:p>
          <a:p>
            <a:pPr algn="just">
              <a:buNone/>
            </a:pPr>
            <a:r>
              <a:rPr lang="en-US" sz="1400" b="1" dirty="0">
                <a:latin typeface="+mj-lt"/>
              </a:rPr>
              <a:t>5. Improve Rider Cost Predictability, Not Suppression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Use surge pricing and routing optimization instead of hard cost caps.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Stabilizes operations without triggering supply shocks.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9727C20-AD3A-2BF1-8E7B-66519AFD0A8D}"/>
              </a:ext>
            </a:extLst>
          </p:cNvPr>
          <p:cNvCxnSpPr>
            <a:cxnSpLocks/>
          </p:cNvCxnSpPr>
          <p:nvPr/>
        </p:nvCxnSpPr>
        <p:spPr>
          <a:xfrm>
            <a:off x="5095336" y="1638271"/>
            <a:ext cx="0" cy="448072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8516CEF-70F4-4D6B-B591-76DB32753519}"/>
              </a:ext>
            </a:extLst>
          </p:cNvPr>
          <p:cNvSpPr txBox="1"/>
          <p:nvPr/>
        </p:nvSpPr>
        <p:spPr>
          <a:xfrm>
            <a:off x="800100" y="6153501"/>
            <a:ext cx="93050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i="1" dirty="0">
                <a:latin typeface="+mj-lt"/>
              </a:rPr>
              <a:t>The optimal strategy combines refund reduction and CAC efficiency first, with pricing and commission levers used selectively.</a:t>
            </a:r>
          </a:p>
        </p:txBody>
      </p:sp>
    </p:spTree>
    <p:extLst>
      <p:ext uri="{BB962C8B-B14F-4D97-AF65-F5344CB8AC3E}">
        <p14:creationId xmlns:p14="http://schemas.microsoft.com/office/powerpoint/2010/main" val="785925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83F3B-4123-6597-9274-FC1A75F42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Sensitivity Analysis: Monthly Profit Impact of Pricing Levers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934BE-6F83-A800-6B31-8EEE4ED0B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100" y="2058837"/>
            <a:ext cx="5295900" cy="4163683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sz="1400" b="1" dirty="0">
                <a:latin typeface="+mj-lt"/>
              </a:rPr>
              <a:t>Monthly Profit Sensitivity (₹ Cr)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1400" b="1" dirty="0">
                <a:latin typeface="+mj-lt"/>
              </a:rPr>
              <a:t>Commission Rate × Delivery Fee</a:t>
            </a:r>
          </a:p>
          <a:p>
            <a:pPr marL="0" indent="0" algn="just">
              <a:spcBef>
                <a:spcPts val="0"/>
              </a:spcBef>
              <a:buNone/>
            </a:pPr>
            <a:endParaRPr lang="en-US" sz="1400" dirty="0">
              <a:latin typeface="+mj-lt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en-US" sz="1400" b="1" dirty="0">
                <a:latin typeface="+mj-lt"/>
              </a:rPr>
              <a:t>What this shows:</a:t>
            </a:r>
            <a:endParaRPr lang="en-US" sz="1400" dirty="0">
              <a:latin typeface="+mj-lt"/>
            </a:endParaRPr>
          </a:p>
          <a:p>
            <a:pPr algn="just">
              <a:spcBef>
                <a:spcPts val="0"/>
              </a:spcBef>
            </a:pPr>
            <a:r>
              <a:rPr lang="en-US" sz="1400" dirty="0">
                <a:latin typeface="+mj-lt"/>
              </a:rPr>
              <a:t>Profit increases </a:t>
            </a:r>
            <a:r>
              <a:rPr lang="en-US" sz="1400" b="1" dirty="0">
                <a:latin typeface="+mj-lt"/>
              </a:rPr>
              <a:t>monotonically</a:t>
            </a:r>
            <a:r>
              <a:rPr lang="en-US" sz="1400" dirty="0">
                <a:latin typeface="+mj-lt"/>
              </a:rPr>
              <a:t> with higher commission and delivery fees</a:t>
            </a:r>
          </a:p>
          <a:p>
            <a:pPr algn="just">
              <a:spcBef>
                <a:spcPts val="0"/>
              </a:spcBef>
            </a:pPr>
            <a:r>
              <a:rPr lang="en-US" sz="1400" b="1" dirty="0">
                <a:latin typeface="+mj-lt"/>
              </a:rPr>
              <a:t>Delivery fee</a:t>
            </a:r>
            <a:r>
              <a:rPr lang="en-US" sz="1400" dirty="0">
                <a:latin typeface="+mj-lt"/>
              </a:rPr>
              <a:t> increases have a </a:t>
            </a:r>
            <a:r>
              <a:rPr lang="en-US" sz="1400" b="1" dirty="0">
                <a:latin typeface="+mj-lt"/>
              </a:rPr>
              <a:t>linear impact</a:t>
            </a:r>
            <a:endParaRPr lang="en-US" sz="1400" dirty="0">
              <a:latin typeface="+mj-lt"/>
            </a:endParaRPr>
          </a:p>
          <a:p>
            <a:pPr algn="just">
              <a:spcBef>
                <a:spcPts val="0"/>
              </a:spcBef>
            </a:pPr>
            <a:r>
              <a:rPr lang="en-US" sz="1400" b="1" dirty="0">
                <a:latin typeface="+mj-lt"/>
              </a:rPr>
              <a:t>Commission</a:t>
            </a:r>
            <a:r>
              <a:rPr lang="en-US" sz="1400" dirty="0">
                <a:latin typeface="+mj-lt"/>
              </a:rPr>
              <a:t> increases have a </a:t>
            </a:r>
            <a:r>
              <a:rPr lang="en-US" sz="1400" b="1" dirty="0">
                <a:latin typeface="+mj-lt"/>
              </a:rPr>
              <a:t>compounding impact at scale</a:t>
            </a:r>
          </a:p>
          <a:p>
            <a:pPr marL="0" indent="0" algn="just">
              <a:spcBef>
                <a:spcPts val="0"/>
              </a:spcBef>
              <a:buNone/>
            </a:pPr>
            <a:endParaRPr lang="en-US" sz="1400" dirty="0">
              <a:latin typeface="+mj-lt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en-US" sz="1400" b="1" dirty="0">
                <a:latin typeface="+mj-lt"/>
              </a:rPr>
              <a:t>Insight:</a:t>
            </a:r>
            <a:endParaRPr lang="en-US" sz="1400" dirty="0">
              <a:latin typeface="+mj-lt"/>
            </a:endParaRPr>
          </a:p>
          <a:p>
            <a:pPr algn="just">
              <a:spcBef>
                <a:spcPts val="0"/>
              </a:spcBef>
            </a:pPr>
            <a:r>
              <a:rPr lang="en-US" sz="1400" dirty="0">
                <a:latin typeface="+mj-lt"/>
              </a:rPr>
              <a:t>Pricing levers are powerful</a:t>
            </a:r>
          </a:p>
          <a:p>
            <a:pPr algn="just">
              <a:spcBef>
                <a:spcPts val="0"/>
              </a:spcBef>
            </a:pPr>
            <a:r>
              <a:rPr lang="en-US" sz="1400" dirty="0">
                <a:latin typeface="+mj-lt"/>
              </a:rPr>
              <a:t>Should be applied </a:t>
            </a:r>
            <a:r>
              <a:rPr lang="en-US" sz="1400" b="1" dirty="0">
                <a:latin typeface="+mj-lt"/>
              </a:rPr>
              <a:t>selectively</a:t>
            </a:r>
            <a:r>
              <a:rPr lang="en-US" sz="1400" dirty="0">
                <a:latin typeface="+mj-lt"/>
              </a:rPr>
              <a:t> to avoid customer or restaurant churn</a:t>
            </a:r>
          </a:p>
        </p:txBody>
      </p:sp>
      <p:pic>
        <p:nvPicPr>
          <p:cNvPr id="5" name="Picture 4" descr="A chart of blue and green shades&#10;&#10;AI-generated content may be incorrect.">
            <a:extLst>
              <a:ext uri="{FF2B5EF4-FFF2-40B4-BE49-F238E27FC236}">
                <a16:creationId xmlns:a16="http://schemas.microsoft.com/office/drawing/2014/main" id="{9557BC03-9AA8-0570-980B-8F03F1D50E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3370" y="1748287"/>
            <a:ext cx="5244320" cy="42758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0376B7-9C46-F284-3842-5740A9515C28}"/>
              </a:ext>
            </a:extLst>
          </p:cNvPr>
          <p:cNvSpPr txBox="1"/>
          <p:nvPr/>
        </p:nvSpPr>
        <p:spPr>
          <a:xfrm>
            <a:off x="800100" y="6084020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i="1" dirty="0">
                <a:latin typeface="+mj-lt"/>
              </a:rPr>
              <a:t>Pricing decisions materially impact profitability, but scale effects amplify commission changes.</a:t>
            </a:r>
          </a:p>
        </p:txBody>
      </p:sp>
    </p:spTree>
    <p:extLst>
      <p:ext uri="{BB962C8B-B14F-4D97-AF65-F5344CB8AC3E}">
        <p14:creationId xmlns:p14="http://schemas.microsoft.com/office/powerpoint/2010/main" val="4186731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3D4A6-F951-7070-B2C2-052AA6F20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Sensitivity Analysis: Loss Risk Response to Refund Probability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3108A-1DD2-457A-BE32-A49786509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397" y="2229871"/>
            <a:ext cx="4969795" cy="3920016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400" b="1" dirty="0">
                <a:latin typeface="+mj-lt"/>
              </a:rPr>
              <a:t>Loss Risk Sensitivity (%)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1" dirty="0">
                <a:latin typeface="+mj-lt"/>
              </a:rPr>
              <a:t>Commission Rate × Refund Probability</a:t>
            </a:r>
            <a:endParaRPr lang="en-US" sz="1400" dirty="0">
              <a:latin typeface="+mj-lt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400" b="1" dirty="0">
              <a:latin typeface="+mj-lt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b="1" dirty="0">
                <a:latin typeface="+mj-lt"/>
              </a:rPr>
              <a:t>What this shows:</a:t>
            </a:r>
            <a:endParaRPr lang="en-US" sz="1400" dirty="0">
              <a:latin typeface="+mj-lt"/>
            </a:endParaRPr>
          </a:p>
          <a:p>
            <a:pPr>
              <a:spcBef>
                <a:spcPts val="0"/>
              </a:spcBef>
            </a:pPr>
            <a:r>
              <a:rPr lang="en-US" sz="1400" b="1" dirty="0">
                <a:latin typeface="+mj-lt"/>
              </a:rPr>
              <a:t>Refund probability is the dominant driver of downside risk</a:t>
            </a:r>
            <a:endParaRPr lang="en-US" sz="1400" dirty="0">
              <a:latin typeface="+mj-lt"/>
            </a:endParaRPr>
          </a:p>
          <a:p>
            <a:pPr>
              <a:spcBef>
                <a:spcPts val="0"/>
              </a:spcBef>
            </a:pPr>
            <a:r>
              <a:rPr lang="en-US" sz="1400" dirty="0">
                <a:latin typeface="+mj-lt"/>
              </a:rPr>
              <a:t>Higher commission </a:t>
            </a:r>
            <a:r>
              <a:rPr lang="en-US" sz="1400" b="1" dirty="0">
                <a:latin typeface="+mj-lt"/>
              </a:rPr>
              <a:t>cannot offset high refund rates</a:t>
            </a:r>
            <a:endParaRPr lang="en-US" sz="1400" dirty="0">
              <a:latin typeface="+mj-lt"/>
            </a:endParaRPr>
          </a:p>
          <a:p>
            <a:pPr>
              <a:spcBef>
                <a:spcPts val="0"/>
              </a:spcBef>
            </a:pPr>
            <a:r>
              <a:rPr lang="en-US" sz="1400" dirty="0">
                <a:latin typeface="+mj-lt"/>
              </a:rPr>
              <a:t>Loss risk rises sharply beyond </a:t>
            </a:r>
            <a:r>
              <a:rPr lang="en-US" sz="1400" b="1" dirty="0">
                <a:latin typeface="+mj-lt"/>
              </a:rPr>
              <a:t>~3–4% refund probability</a:t>
            </a:r>
            <a:endParaRPr lang="en-US" sz="1400" dirty="0">
              <a:latin typeface="+mj-lt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400" b="1" dirty="0">
              <a:latin typeface="+mj-lt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b="1" dirty="0">
                <a:latin typeface="+mj-lt"/>
              </a:rPr>
              <a:t>Insight:</a:t>
            </a:r>
            <a:endParaRPr lang="en-US" sz="1400" dirty="0">
              <a:latin typeface="+mj-lt"/>
            </a:endParaRPr>
          </a:p>
          <a:p>
            <a:pPr>
              <a:spcBef>
                <a:spcPts val="0"/>
              </a:spcBef>
            </a:pPr>
            <a:r>
              <a:rPr lang="en-US" sz="1400" dirty="0">
                <a:latin typeface="+mj-lt"/>
              </a:rPr>
              <a:t>Operational quality and order accuracy matter more than monetization for risk control</a:t>
            </a:r>
          </a:p>
          <a:p>
            <a:endParaRPr lang="en-IN" dirty="0">
              <a:latin typeface="+mj-lt"/>
            </a:endParaRPr>
          </a:p>
        </p:txBody>
      </p:sp>
      <p:pic>
        <p:nvPicPr>
          <p:cNvPr id="5" name="Picture 4" descr="A red and white chart&#10;&#10;AI-generated content may be incorrect.">
            <a:extLst>
              <a:ext uri="{FF2B5EF4-FFF2-40B4-BE49-F238E27FC236}">
                <a16:creationId xmlns:a16="http://schemas.microsoft.com/office/drawing/2014/main" id="{93DABF2D-4FCF-92DC-4B69-AF946BB536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5700" y="1688540"/>
            <a:ext cx="5581644" cy="43995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567E79D-75D2-B46A-F940-70DAD3114B62}"/>
              </a:ext>
            </a:extLst>
          </p:cNvPr>
          <p:cNvSpPr txBox="1"/>
          <p:nvPr/>
        </p:nvSpPr>
        <p:spPr>
          <a:xfrm>
            <a:off x="775397" y="6157766"/>
            <a:ext cx="77350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i="1" dirty="0">
                <a:latin typeface="+mj-lt"/>
              </a:rPr>
              <a:t>Refund control is the single most effective lever for reducing loss-making orders.</a:t>
            </a:r>
          </a:p>
        </p:txBody>
      </p:sp>
    </p:spTree>
    <p:extLst>
      <p:ext uri="{BB962C8B-B14F-4D97-AF65-F5344CB8AC3E}">
        <p14:creationId xmlns:p14="http://schemas.microsoft.com/office/powerpoint/2010/main" val="10267866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0271E-A0B4-98CA-7F52-649A356B8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Limitations, Assumptions &amp; Next Steps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E6415-7169-AF81-5AAA-0F39CB6309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6" y="1759789"/>
            <a:ext cx="3250262" cy="420209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600" b="1" dirty="0">
                <a:latin typeface="+mj-lt"/>
              </a:rPr>
              <a:t>KEY ASSUMPTIONS</a:t>
            </a:r>
          </a:p>
          <a:p>
            <a:pPr algn="just"/>
            <a:r>
              <a:rPr lang="en-US" sz="1600" dirty="0">
                <a:latin typeface="+mj-lt"/>
              </a:rPr>
              <a:t>FY24 averages used for AOV, commissions, and order volumes</a:t>
            </a:r>
          </a:p>
          <a:p>
            <a:pPr algn="just"/>
            <a:r>
              <a:rPr lang="en-US" sz="1600" dirty="0">
                <a:latin typeface="+mj-lt"/>
              </a:rPr>
              <a:t>Cost drivers modeled as independent probability distributions</a:t>
            </a:r>
          </a:p>
          <a:p>
            <a:pPr algn="just"/>
            <a:r>
              <a:rPr lang="en-US" sz="1600" dirty="0">
                <a:latin typeface="+mj-lt"/>
              </a:rPr>
              <a:t>Order volume elasticity applied conservatively at scenario level</a:t>
            </a:r>
          </a:p>
          <a:p>
            <a:pPr algn="just"/>
            <a:r>
              <a:rPr lang="en-US" sz="1600" dirty="0">
                <a:latin typeface="+mj-lt"/>
              </a:rPr>
              <a:t>Competitive landscape assumed stable in the short term</a:t>
            </a:r>
          </a:p>
          <a:p>
            <a:pPr algn="just"/>
            <a:endParaRPr lang="en-US" sz="1600" dirty="0">
              <a:latin typeface="+mj-lt"/>
            </a:endParaRPr>
          </a:p>
          <a:p>
            <a:pPr algn="just"/>
            <a:endParaRPr lang="en-IN" sz="16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59E3B1-17AC-A73C-82FC-F53D5568659F}"/>
              </a:ext>
            </a:extLst>
          </p:cNvPr>
          <p:cNvSpPr txBox="1"/>
          <p:nvPr/>
        </p:nvSpPr>
        <p:spPr>
          <a:xfrm>
            <a:off x="4042913" y="1696283"/>
            <a:ext cx="331254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1600" b="1" dirty="0">
                <a:latin typeface="+mj-lt"/>
              </a:rPr>
              <a:t>LIMITATIONS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Does not model </a:t>
            </a:r>
            <a:r>
              <a:rPr lang="en-US" sz="1600" b="1" dirty="0">
                <a:latin typeface="+mj-lt"/>
              </a:rPr>
              <a:t>long-term customer or restaurant churn dynamics</a:t>
            </a:r>
            <a:endParaRPr lang="en-US" sz="1600" dirty="0">
              <a:latin typeface="+mj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Cross-effects between levers (e.g., higher fees → refunds) not fully captured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City-level, time-of-day, and cohort-level variations not modeled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Results indicate </a:t>
            </a:r>
            <a:r>
              <a:rPr lang="en-US" sz="1600" b="1" dirty="0">
                <a:latin typeface="+mj-lt"/>
              </a:rPr>
              <a:t>directional strategy impact</a:t>
            </a:r>
            <a:r>
              <a:rPr lang="en-US" sz="1600" dirty="0">
                <a:latin typeface="+mj-lt"/>
              </a:rPr>
              <a:t>, not exact forecasts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D1B926-CD63-DA5D-5CBE-C8D3BBC27FD1}"/>
              </a:ext>
            </a:extLst>
          </p:cNvPr>
          <p:cNvSpPr txBox="1"/>
          <p:nvPr/>
        </p:nvSpPr>
        <p:spPr>
          <a:xfrm>
            <a:off x="7668523" y="1759789"/>
            <a:ext cx="3410310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1600" b="1" dirty="0">
                <a:latin typeface="+mj-lt"/>
              </a:rPr>
              <a:t>NEXT STEPS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Add </a:t>
            </a:r>
            <a:r>
              <a:rPr lang="en-US" sz="1600" b="1" dirty="0">
                <a:latin typeface="+mj-lt"/>
              </a:rPr>
              <a:t>cohort-based demand and churn modeling</a:t>
            </a:r>
            <a:endParaRPr lang="en-US" sz="1600" dirty="0">
              <a:latin typeface="+mj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Extend simulator to </a:t>
            </a:r>
            <a:r>
              <a:rPr lang="en-US" sz="1600" b="1" dirty="0">
                <a:latin typeface="+mj-lt"/>
              </a:rPr>
              <a:t>city-level and peak/off-peak analysis</a:t>
            </a:r>
            <a:endParaRPr lang="en-US" sz="1600" dirty="0">
              <a:latin typeface="+mj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Integrate </a:t>
            </a:r>
            <a:r>
              <a:rPr lang="en-US" sz="1600" b="1" dirty="0">
                <a:latin typeface="+mj-lt"/>
              </a:rPr>
              <a:t>real-time operational data</a:t>
            </a:r>
            <a:r>
              <a:rPr lang="en-US" sz="1600" dirty="0">
                <a:latin typeface="+mj-lt"/>
              </a:rPr>
              <a:t> for live decision support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Use simulator as a </a:t>
            </a:r>
            <a:r>
              <a:rPr lang="en-US" sz="1600" b="1" dirty="0">
                <a:latin typeface="+mj-lt"/>
              </a:rPr>
              <a:t>pricing &amp; policy experimentation tool</a:t>
            </a:r>
            <a:endParaRPr lang="en-US" sz="1600" dirty="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4FB650-3188-B57F-6690-59D8A0F9008F}"/>
              </a:ext>
            </a:extLst>
          </p:cNvPr>
          <p:cNvSpPr txBox="1"/>
          <p:nvPr/>
        </p:nvSpPr>
        <p:spPr>
          <a:xfrm>
            <a:off x="700635" y="614952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i="1" dirty="0"/>
              <a:t>This simulator is a strategic decision-support tool — not a static forecasting model.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24B063-6D66-FA94-DA6B-255A34D2C121}"/>
              </a:ext>
            </a:extLst>
          </p:cNvPr>
          <p:cNvSpPr txBox="1"/>
          <p:nvPr/>
        </p:nvSpPr>
        <p:spPr>
          <a:xfrm>
            <a:off x="8477654" y="5518579"/>
            <a:ext cx="2914246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Code &amp; Simulation Notebooks: </a:t>
            </a:r>
          </a:p>
          <a:p>
            <a:r>
              <a:rPr lang="en-IN" sz="1100" i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https://github.com/Kushagra-1210/Zomato-Unit-Economics-Simulator.git</a:t>
            </a:r>
            <a:r>
              <a:rPr lang="en-IN" sz="1100" i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24081432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6852</TotalTime>
  <Words>1954</Words>
  <Application>Microsoft Office PowerPoint</Application>
  <PresentationFormat>Widescreen</PresentationFormat>
  <Paragraphs>257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Calisto MT</vt:lpstr>
      <vt:lpstr>Univers Condensed</vt:lpstr>
      <vt:lpstr>Wingdings</vt:lpstr>
      <vt:lpstr>ChronicleVTI</vt:lpstr>
      <vt:lpstr>Zomato Unit Economics &amp; Risk Simulator (FY24) </vt:lpstr>
      <vt:lpstr>Why Model Unit Economics? </vt:lpstr>
      <vt:lpstr>FY24 Operating Inputs Used in the Simulator (Zomato Actuals + Industry Ranges) </vt:lpstr>
      <vt:lpstr>The “Golden Equation” of Profit per Order (Unit Economics Framework) </vt:lpstr>
      <vt:lpstr>Monte Carlo Simulation: Measuring Profitability  &amp; Risk Under Real World Uncertainty </vt:lpstr>
      <vt:lpstr>Baseline Simulation Results (10,000 Orders) </vt:lpstr>
      <vt:lpstr>Scenario Testing: Evaluating Profit &amp; Risk Impact Across Five Strategic Levers </vt:lpstr>
      <vt:lpstr>Scenario Results: Profitability &amp; Risk Comparison </vt:lpstr>
      <vt:lpstr>Key Insights &amp; Strategic Recommendations </vt:lpstr>
      <vt:lpstr>Sensitivity Analysis: Monthly Profit Impact of Pricing Levers</vt:lpstr>
      <vt:lpstr>Sensitivity Analysis: Loss Risk Response to Refund Probability</vt:lpstr>
      <vt:lpstr>Limitations, Assumptions &amp; Next Steps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Kushagra Bansal</dc:creator>
  <cp:lastModifiedBy>Kushagra Bansal</cp:lastModifiedBy>
  <cp:revision>2</cp:revision>
  <dcterms:created xsi:type="dcterms:W3CDTF">2025-12-08T20:37:28Z</dcterms:created>
  <dcterms:modified xsi:type="dcterms:W3CDTF">2025-12-13T14:49:30Z</dcterms:modified>
</cp:coreProperties>
</file>