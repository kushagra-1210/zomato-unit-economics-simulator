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shagra Bansal" userId="3d71df4d4eda243c" providerId="LiveId" clId="{DB6E0569-4B58-4AC7-A511-4565BE34C581}"/>
    <pc:docChg chg="modSld">
      <pc:chgData name="Kushagra Bansal" userId="3d71df4d4eda243c" providerId="LiveId" clId="{DB6E0569-4B58-4AC7-A511-4565BE34C581}" dt="2025-12-18T09:55:49.789" v="0" actId="14100"/>
      <pc:docMkLst>
        <pc:docMk/>
      </pc:docMkLst>
      <pc:sldChg chg="modSp mod">
        <pc:chgData name="Kushagra Bansal" userId="3d71df4d4eda243c" providerId="LiveId" clId="{DB6E0569-4B58-4AC7-A511-4565BE34C581}" dt="2025-12-18T09:55:49.789" v="0" actId="14100"/>
        <pc:sldMkLst>
          <pc:docMk/>
          <pc:sldMk cId="2812043131" sldId="256"/>
        </pc:sldMkLst>
        <pc:picChg chg="mod">
          <ac:chgData name="Kushagra Bansal" userId="3d71df4d4eda243c" providerId="LiveId" clId="{DB6E0569-4B58-4AC7-A511-4565BE34C581}" dt="2025-12-18T09:55:49.789" v="0" actId="14100"/>
          <ac:picMkLst>
            <pc:docMk/>
            <pc:sldMk cId="2812043131" sldId="256"/>
            <ac:picMk id="2" creationId="{EBC78C7A-8BEA-F6C3-1274-CA1FA2B674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E35A3-5964-4CBC-BC6B-53A5E65DDAB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1D348-C8E8-4351-B055-DF7467BE8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0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1D348-C8E8-4351-B055-DF7467BE8A1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5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6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6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4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7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8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0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51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shagra-1210/Zomato-Unit-Economics-Simulator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89EB388-09DA-71C0-0684-C762D62DA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254" y="908651"/>
            <a:ext cx="4937004" cy="40586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Zomato Unit Economics &amp; Risk Simulator (FY24) </a:t>
            </a:r>
            <a:endParaRPr lang="en-IN" sz="4600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579F746-75A6-EEE7-4524-8189F5007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254" y="4660516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Monte Carlo Based Profitability Model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Kushagra Bansal</a:t>
            </a:r>
            <a:endParaRPr lang="en-IN" sz="17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BC78C7A-8BEA-F6C3-1274-CA1FA2B6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8" r="11641"/>
          <a:stretch>
            <a:fillRect/>
          </a:stretch>
        </p:blipFill>
        <p:spPr>
          <a:xfrm>
            <a:off x="5825706" y="10"/>
            <a:ext cx="63662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4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14E0-5934-BCF2-90AC-322D0878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386" y="1069677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IN" dirty="0"/>
              <a:t>Why Model Unit Economics?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FBEE0C-DD9C-BF37-458C-25B214E37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6" y="2082084"/>
            <a:ext cx="10582716" cy="30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Food delivery profitability is highly sensitive to small fluctuations in AOV, CAC, refunds, and rider payouts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Static Excel models hide risk because they assume fixed averages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Real-world costs behave like distributions, not constants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Monte Carlo helps quantify risk of loss per order (vs. point estimates)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 simulate volatility, identify failure points, and test strategy levers</a:t>
            </a:r>
          </a:p>
        </p:txBody>
      </p:sp>
    </p:spTree>
    <p:extLst>
      <p:ext uri="{BB962C8B-B14F-4D97-AF65-F5344CB8AC3E}">
        <p14:creationId xmlns:p14="http://schemas.microsoft.com/office/powerpoint/2010/main" val="200790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C45A-53AA-197C-E425-DF4024AC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22384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FY24 Operating Inputs Used in the Simulator (Zomato Actuals + Industry Ranges)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97CC-0361-80D6-FBC1-426FCE3A3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44" y="2181735"/>
            <a:ext cx="3187002" cy="373989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+mj-lt"/>
              </a:rPr>
              <a:t>This simulator is built on Zomato’s FY24 food-delivery metrics and realistic industry cost distributions. These assumptions form the baseline for the Monte Carlo model.</a:t>
            </a:r>
          </a:p>
          <a:p>
            <a:pPr algn="just"/>
            <a:r>
              <a:rPr lang="en-US" dirty="0">
                <a:latin typeface="+mj-lt"/>
              </a:rPr>
              <a:t>These parameters define the statistical “shape” of unit economics and allow us to simulate 10,000 realistic profit outcomes instead of a single static estimate.</a:t>
            </a:r>
          </a:p>
          <a:p>
            <a:pPr algn="just"/>
            <a:endParaRPr lang="en-US" dirty="0">
              <a:latin typeface="+mj-lt"/>
            </a:endParaRPr>
          </a:p>
          <a:p>
            <a:pPr marL="0" indent="0" algn="just">
              <a:buNone/>
            </a:pPr>
            <a:endParaRPr lang="en-IN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662233-309B-92AE-3CDF-4549AA819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1320"/>
              </p:ext>
            </p:extLst>
          </p:nvPr>
        </p:nvGraphicFramePr>
        <p:xfrm>
          <a:off x="3996903" y="2032718"/>
          <a:ext cx="7394997" cy="4034286"/>
        </p:xfrm>
        <a:graphic>
          <a:graphicData uri="http://schemas.openxmlformats.org/drawingml/2006/table">
            <a:tbl>
              <a:tblPr/>
              <a:tblGrid>
                <a:gridCol w="2464999">
                  <a:extLst>
                    <a:ext uri="{9D8B030D-6E8A-4147-A177-3AD203B41FA5}">
                      <a16:colId xmlns:a16="http://schemas.microsoft.com/office/drawing/2014/main" val="993228678"/>
                    </a:ext>
                  </a:extLst>
                </a:gridCol>
                <a:gridCol w="2464999">
                  <a:extLst>
                    <a:ext uri="{9D8B030D-6E8A-4147-A177-3AD203B41FA5}">
                      <a16:colId xmlns:a16="http://schemas.microsoft.com/office/drawing/2014/main" val="3066652164"/>
                    </a:ext>
                  </a:extLst>
                </a:gridCol>
                <a:gridCol w="2464999">
                  <a:extLst>
                    <a:ext uri="{9D8B030D-6E8A-4147-A177-3AD203B41FA5}">
                      <a16:colId xmlns:a16="http://schemas.microsoft.com/office/drawing/2014/main" val="1523526212"/>
                    </a:ext>
                  </a:extLst>
                </a:gridCol>
              </a:tblGrid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Driver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Value Used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Source / Logic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87852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AOV (Mean)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₹428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Zomato FY24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060282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AOV (Std Dev)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₹50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Basket size volatility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441447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Commission Rate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22.5%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Typical take rate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164634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Delivery Fee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₹33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FY24 average per order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50671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Rider Cost (Mean)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₹32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Industry avg payout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801839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Rider Cost (Std Dev)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₹10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Traffic/rain variability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460167"/>
                  </a:ext>
                </a:extLst>
              </a:tr>
              <a:tr h="448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Packaging Cost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₹12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Restaurant reimbursement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968326"/>
                  </a:ext>
                </a:extLst>
              </a:tr>
              <a:tr h="448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CAC/Marketing Cost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₹20 (SD 10)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FY24 marketing allocation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03112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Refund Probability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2%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Cancellations/refunds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09478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Refund Loss Amount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=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Full order value lost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55550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Payment Gateway Fee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2.4% of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Standard MDR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70254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Monthly Orders (FY24)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~66 million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GOV ÷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558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3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7BB1D-DBF7-C00E-A4F9-15C557154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62641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The “Golden Equation” of Profit per Order (Unit Economics Framework)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08A1-B824-6881-24B6-04BED9817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991952"/>
            <a:ext cx="2738428" cy="3739896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+mj-lt"/>
              </a:rPr>
              <a:t>Zomato’s profitability fundamentally depends on how revenue and variable costs behave at the order level.</a:t>
            </a:r>
          </a:p>
          <a:p>
            <a:pPr algn="just"/>
            <a:r>
              <a:rPr lang="en-US" sz="1600" dirty="0">
                <a:latin typeface="+mj-lt"/>
              </a:rPr>
              <a:t>This equation defines how every assumption in the model flows into profit: </a:t>
            </a:r>
          </a:p>
          <a:p>
            <a:pPr algn="just"/>
            <a:endParaRPr lang="en-US" sz="1600" dirty="0">
              <a:latin typeface="+mj-lt"/>
            </a:endParaRPr>
          </a:p>
          <a:p>
            <a:pPr algn="just"/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77FCD7-83ED-A936-2882-468989132451}"/>
              </a:ext>
            </a:extLst>
          </p:cNvPr>
          <p:cNvSpPr txBox="1">
            <a:spLocks/>
          </p:cNvSpPr>
          <p:nvPr/>
        </p:nvSpPr>
        <p:spPr>
          <a:xfrm>
            <a:off x="3439064" y="1968948"/>
            <a:ext cx="4779034" cy="3739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+mj-lt"/>
              </a:rPr>
              <a:t>Net Profit per Order = Revenue   -  Cost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+mj-lt"/>
              </a:rPr>
              <a:t>                                       per Order     per Order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+mj-lt"/>
              </a:rPr>
              <a:t>Revenue Components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Revenue = (AOV × Commission Rate) + Delivery Fee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Commission = Platform take rate from restaurant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Delivery Fee = Paid by customer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+mj-lt"/>
              </a:rPr>
              <a:t>Cost Components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Costs = Rider Cost + Packaging Cost + CAC/Marketing + Payment Gateway Fee + Refund Loss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Rider Cost: Payout to delivery partner (varies with traffic, rain → modeled as Normal dist.)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Packaging Cost: Reimbursement/charge per order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CAC / Marketing Cost: Spread across acquired users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Gateway Fee: % of AOV (typically 2–3%)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Refund Loss: = AOV × (refund probability)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600" b="1" dirty="0">
              <a:latin typeface="+mj-lt"/>
            </a:endParaRPr>
          </a:p>
          <a:p>
            <a:pPr algn="just"/>
            <a:endParaRPr lang="en-IN" sz="1600" dirty="0"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E00995-C526-6A0B-D957-8BB800148E91}"/>
              </a:ext>
            </a:extLst>
          </p:cNvPr>
          <p:cNvCxnSpPr>
            <a:cxnSpLocks/>
          </p:cNvCxnSpPr>
          <p:nvPr/>
        </p:nvCxnSpPr>
        <p:spPr>
          <a:xfrm>
            <a:off x="3439064" y="1986201"/>
            <a:ext cx="0" cy="4035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2555B5-2447-F98B-C4CE-6B9B53BCC5F5}"/>
              </a:ext>
            </a:extLst>
          </p:cNvPr>
          <p:cNvCxnSpPr>
            <a:cxnSpLocks/>
          </p:cNvCxnSpPr>
          <p:nvPr/>
        </p:nvCxnSpPr>
        <p:spPr>
          <a:xfrm>
            <a:off x="8186455" y="1983324"/>
            <a:ext cx="0" cy="4035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AFAFEA-2028-CC9E-EDA4-0A12B0587305}"/>
              </a:ext>
            </a:extLst>
          </p:cNvPr>
          <p:cNvSpPr txBox="1">
            <a:spLocks/>
          </p:cNvSpPr>
          <p:nvPr/>
        </p:nvSpPr>
        <p:spPr>
          <a:xfrm>
            <a:off x="8218098" y="1991952"/>
            <a:ext cx="3973902" cy="4127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sz="1600" b="1" dirty="0">
                <a:latin typeface="+mj-lt"/>
              </a:rPr>
              <a:t>Example: FY24 Average Order (Illustration)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AOV = ₹428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Commission (22.5%) = ₹96.3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Delivery Fee = ₹33 </a:t>
            </a:r>
            <a:r>
              <a:rPr lang="en-IN" sz="1600" b="1" dirty="0">
                <a:latin typeface="+mj-lt"/>
              </a:rPr>
              <a:t>→ Revenue ≈ ₹129.3</a:t>
            </a:r>
            <a:endParaRPr lang="en-IN" sz="16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Rider Cost ≈ ₹32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CAC ≈ ₹20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Packaging ≈ ₹12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Gateway Fee ≈ ₹10.3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Refund Cost (2% × AOV) ≈ ₹8.5</a:t>
            </a:r>
            <a:br>
              <a:rPr lang="en-IN" sz="1600" dirty="0">
                <a:latin typeface="+mj-lt"/>
              </a:rPr>
            </a:br>
            <a:r>
              <a:rPr lang="en-IN" sz="1600" b="1" dirty="0">
                <a:latin typeface="+mj-lt"/>
              </a:rPr>
              <a:t>→ Total Cost ≈ ₹82.8</a:t>
            </a:r>
            <a:endParaRPr lang="en-IN" sz="16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IN" sz="1600" b="1" dirty="0">
                <a:latin typeface="+mj-lt"/>
              </a:rPr>
              <a:t>Net Profit ≈ ₹46.5 per order</a:t>
            </a:r>
          </a:p>
          <a:p>
            <a:pPr>
              <a:spcBef>
                <a:spcPts val="0"/>
              </a:spcBef>
            </a:pPr>
            <a:r>
              <a:rPr lang="en-IN" sz="1600" i="1" dirty="0">
                <a:latin typeface="+mj-lt"/>
              </a:rPr>
              <a:t>(This matches the baseline simulation output)</a:t>
            </a:r>
            <a:endParaRPr lang="en-IN" sz="1600" dirty="0">
              <a:latin typeface="+mj-lt"/>
            </a:endParaRPr>
          </a:p>
          <a:p>
            <a:pPr algn="just">
              <a:spcBef>
                <a:spcPts val="0"/>
              </a:spcBef>
            </a:pPr>
            <a:endParaRPr lang="en-IN" sz="1600" dirty="0">
              <a:latin typeface="+mj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DC34B5F-DFB0-2C4C-7D8A-3B34D13837A2}"/>
              </a:ext>
            </a:extLst>
          </p:cNvPr>
          <p:cNvSpPr txBox="1">
            <a:spLocks/>
          </p:cNvSpPr>
          <p:nvPr/>
        </p:nvSpPr>
        <p:spPr>
          <a:xfrm>
            <a:off x="712383" y="6119004"/>
            <a:ext cx="10151884" cy="488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This equation converts Zomato’s operating model into a simulation-ready financial structure, enabling risk and profitability modeling across thousands of scenarios.</a:t>
            </a:r>
          </a:p>
        </p:txBody>
      </p:sp>
    </p:spTree>
    <p:extLst>
      <p:ext uri="{BB962C8B-B14F-4D97-AF65-F5344CB8AC3E}">
        <p14:creationId xmlns:p14="http://schemas.microsoft.com/office/powerpoint/2010/main" val="326974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19D7-C538-043E-E196-E693706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39" y="718866"/>
            <a:ext cx="11123306" cy="1307592"/>
          </a:xfrm>
        </p:spPr>
        <p:txBody>
          <a:bodyPr>
            <a:noAutofit/>
          </a:bodyPr>
          <a:lstStyle/>
          <a:p>
            <a:r>
              <a:rPr lang="en-US" sz="3400" dirty="0"/>
              <a:t>Monte Carlo Simulation: Measuring Profitability </a:t>
            </a:r>
            <a:br>
              <a:rPr lang="en-US" sz="3400" dirty="0"/>
            </a:br>
            <a:r>
              <a:rPr lang="en-US" sz="3400" dirty="0"/>
              <a:t>&amp; Risk Under Real World Uncertainty</a:t>
            </a:r>
            <a:br>
              <a:rPr lang="en-US" sz="3400" dirty="0"/>
            </a:br>
            <a:endParaRPr lang="en-IN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3E0A-E37D-0688-7DAF-7D55AD07B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30" y="1713779"/>
            <a:ext cx="2703923" cy="3995065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+mj-lt"/>
              </a:rPr>
              <a:t>Traditional unit economics assume fixed costs. But in reality, rider payouts, CAC, refunds, packaging, and AOV fluctuate daily.</a:t>
            </a:r>
          </a:p>
          <a:p>
            <a:pPr algn="just"/>
            <a:r>
              <a:rPr lang="en-US" sz="1400" dirty="0">
                <a:latin typeface="+mj-lt"/>
              </a:rPr>
              <a:t>Monte Carlo simulation introduces </a:t>
            </a:r>
            <a:r>
              <a:rPr lang="en-US" sz="1400" i="1" dirty="0">
                <a:latin typeface="+mj-lt"/>
              </a:rPr>
              <a:t>probability</a:t>
            </a:r>
            <a:r>
              <a:rPr lang="en-US" sz="1400" dirty="0">
                <a:latin typeface="+mj-lt"/>
              </a:rPr>
              <a:t> into the equation — generating thousands of possible outcomes instead of just one number.</a:t>
            </a:r>
          </a:p>
          <a:p>
            <a:pPr algn="just"/>
            <a:r>
              <a:rPr lang="en-US" sz="1400" dirty="0">
                <a:latin typeface="+mj-lt"/>
              </a:rPr>
              <a:t>This allows Zomato to measure profit volatility, downside risk, and sensitivity to operational changes.</a:t>
            </a:r>
          </a:p>
          <a:p>
            <a:pPr algn="just"/>
            <a:endParaRPr lang="en-IN" sz="1400" dirty="0"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9B160D-FF31-FAE4-9447-DDE70044A50E}"/>
              </a:ext>
            </a:extLst>
          </p:cNvPr>
          <p:cNvCxnSpPr>
            <a:cxnSpLocks/>
          </p:cNvCxnSpPr>
          <p:nvPr/>
        </p:nvCxnSpPr>
        <p:spPr>
          <a:xfrm>
            <a:off x="3341297" y="1782791"/>
            <a:ext cx="0" cy="41579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01BE9-D992-C4EA-C49F-7C317D9B9D3B}"/>
              </a:ext>
            </a:extLst>
          </p:cNvPr>
          <p:cNvSpPr txBox="1">
            <a:spLocks/>
          </p:cNvSpPr>
          <p:nvPr/>
        </p:nvSpPr>
        <p:spPr>
          <a:xfrm>
            <a:off x="3278031" y="1705151"/>
            <a:ext cx="5699192" cy="4598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How the Simulator Runs (Step-by-Step):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Randomly generates 10,000 “virtual orders”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Each order has: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AOV drawn from a Normal distribution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Rider cost drawn from a Normal distribution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CAC drawn from a Normal distribution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Refund occurrence drawn from a Bernoulli distribution (0 or 1)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Applies the Golden Equation</a:t>
            </a:r>
            <a:r>
              <a:rPr lang="en-US" sz="1400" dirty="0">
                <a:latin typeface="+mj-lt"/>
              </a:rPr>
              <a:t> to every order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Net Profit = Revenue – Costs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(using that order’s random variables)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Creates a Profit Distribution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Instead of one number, you get a curve of outcomes (your bell-shaped graph).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Calculates Key Risk Metrics:</a:t>
            </a:r>
            <a:endParaRPr lang="en-US" sz="1400" dirty="0">
              <a:latin typeface="+mj-lt"/>
            </a:endParaRP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Average profit per order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Probability of loss (profit &lt; 0)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Range of best-case and worst-case outcomes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Scales this to Monthly Profit</a:t>
            </a:r>
            <a:r>
              <a:rPr lang="en-US" sz="1400" dirty="0">
                <a:latin typeface="+mj-lt"/>
              </a:rPr>
              <a:t> using FY24 volumes (~66M orders per month)</a:t>
            </a:r>
          </a:p>
          <a:p>
            <a:pPr algn="just">
              <a:spcBef>
                <a:spcPts val="0"/>
              </a:spcBef>
            </a:pPr>
            <a:endParaRPr lang="en-IN" sz="14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78E7DA-B648-620F-8A54-19C09F871FC4}"/>
              </a:ext>
            </a:extLst>
          </p:cNvPr>
          <p:cNvCxnSpPr>
            <a:cxnSpLocks/>
          </p:cNvCxnSpPr>
          <p:nvPr/>
        </p:nvCxnSpPr>
        <p:spPr>
          <a:xfrm>
            <a:off x="8876566" y="1713779"/>
            <a:ext cx="0" cy="43017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58DF9-B2E5-5E05-96D5-2F31BE44D8EE}"/>
              </a:ext>
            </a:extLst>
          </p:cNvPr>
          <p:cNvSpPr txBox="1">
            <a:spLocks/>
          </p:cNvSpPr>
          <p:nvPr/>
        </p:nvSpPr>
        <p:spPr>
          <a:xfrm>
            <a:off x="8833450" y="1736782"/>
            <a:ext cx="3341298" cy="4287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Why Monte Carlo Is Valuable for Food Delivery: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Captures real operational uncertainty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Rider with rain, traffic, peak costs vary ours.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Models edge cases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High refund days, spikes in CAC, festival demand.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Shows the downside risk of decisions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Example: Increasing delivery fee lowers loss risk but reduces order volume.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Helps design pricing, commissions, and incentives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By seeing which variables matter most.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Transforms unit economics from static to probabilistic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endParaRPr lang="en-IN" sz="1400" dirty="0">
              <a:latin typeface="+mj-lt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6975F9-84C6-88E5-3AE6-760C1F3ECF6B}"/>
              </a:ext>
            </a:extLst>
          </p:cNvPr>
          <p:cNvSpPr txBox="1">
            <a:spLocks/>
          </p:cNvSpPr>
          <p:nvPr/>
        </p:nvSpPr>
        <p:spPr>
          <a:xfrm>
            <a:off x="723639" y="6093127"/>
            <a:ext cx="10726490" cy="86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200" i="1" dirty="0">
                <a:latin typeface="+mj-lt"/>
              </a:rPr>
              <a:t>Monte Carlo simulation converts Zomato’s unit economics into a predictive risk engine — enabling smarter decisions on pricing, incentives, and profitability levers.</a:t>
            </a:r>
          </a:p>
          <a:p>
            <a:pPr marL="0" indent="0" algn="just">
              <a:buNone/>
            </a:pPr>
            <a:endParaRPr lang="en-IN" sz="12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966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DBC7-0BAF-DB30-7545-846E47B7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Baseline Simulation Results (10,000 Orders)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064A0CE1-3C0F-4203-9089-EC8CCAAB5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765" y="1833462"/>
            <a:ext cx="5451894" cy="42652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BF3487-1B08-9B75-45B4-1B7B9EAF7D64}"/>
              </a:ext>
            </a:extLst>
          </p:cNvPr>
          <p:cNvSpPr txBox="1"/>
          <p:nvPr/>
        </p:nvSpPr>
        <p:spPr>
          <a:xfrm>
            <a:off x="989162" y="1852269"/>
            <a:ext cx="203583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+mj-lt"/>
              </a:rPr>
              <a:t>Baseline (FY24 Inputs):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 err="1">
                <a:latin typeface="+mj-lt"/>
              </a:rPr>
              <a:t>Avg</a:t>
            </a:r>
            <a:r>
              <a:rPr lang="en-IN" sz="1400" dirty="0">
                <a:latin typeface="+mj-lt"/>
              </a:rPr>
              <a:t> Profit/order: </a:t>
            </a:r>
            <a:r>
              <a:rPr lang="en-IN" sz="1400" b="1" dirty="0">
                <a:latin typeface="+mj-lt"/>
              </a:rPr>
              <a:t>₹48.26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Loss Risk: </a:t>
            </a:r>
            <a:r>
              <a:rPr lang="en-IN" sz="1400" b="1" dirty="0">
                <a:latin typeface="+mj-lt"/>
              </a:rPr>
              <a:t>2.20%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5th–95th Percentile Range: </a:t>
            </a:r>
            <a:r>
              <a:rPr lang="en-IN" sz="1400" b="1" dirty="0">
                <a:latin typeface="+mj-lt"/>
              </a:rPr>
              <a:t>₹10 → ₹100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Monthly Orders: </a:t>
            </a:r>
            <a:r>
              <a:rPr lang="en-IN" sz="1400" b="1" dirty="0">
                <a:latin typeface="+mj-lt"/>
              </a:rPr>
              <a:t>~66M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Monthly Profit: </a:t>
            </a:r>
            <a:r>
              <a:rPr lang="en-IN" sz="1400" b="1" dirty="0">
                <a:latin typeface="+mj-lt"/>
              </a:rPr>
              <a:t>₹318.5 Cr</a:t>
            </a:r>
            <a:endParaRPr lang="en-IN" sz="1400" dirty="0">
              <a:latin typeface="+mj-lt"/>
            </a:endParaRPr>
          </a:p>
          <a:p>
            <a:pPr algn="just"/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Interpretation: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Unit economics are </a:t>
            </a:r>
            <a:r>
              <a:rPr lang="en-IN" sz="1400" b="1" dirty="0">
                <a:latin typeface="+mj-lt"/>
              </a:rPr>
              <a:t>solidly profitable</a:t>
            </a:r>
            <a:r>
              <a:rPr lang="en-IN" sz="1400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Loss-making orders are </a:t>
            </a:r>
            <a:r>
              <a:rPr lang="en-IN" sz="1400" b="1" dirty="0">
                <a:latin typeface="+mj-lt"/>
              </a:rPr>
              <a:t>rare (~2%)</a:t>
            </a:r>
            <a:r>
              <a:rPr lang="en-IN" sz="1400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Profit distribution is </a:t>
            </a:r>
            <a:r>
              <a:rPr lang="en-IN" sz="1400" b="1" dirty="0">
                <a:latin typeface="+mj-lt"/>
              </a:rPr>
              <a:t>stable + predictable</a:t>
            </a:r>
            <a:r>
              <a:rPr lang="en-IN" sz="1400" dirty="0">
                <a:latin typeface="+mj-lt"/>
              </a:rPr>
              <a:t>.</a:t>
            </a:r>
          </a:p>
          <a:p>
            <a:pPr algn="just"/>
            <a:endParaRPr lang="en-IN" sz="1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F5651-8EF2-CF0F-E756-8F320C4C2753}"/>
              </a:ext>
            </a:extLst>
          </p:cNvPr>
          <p:cNvSpPr txBox="1"/>
          <p:nvPr/>
        </p:nvSpPr>
        <p:spPr>
          <a:xfrm>
            <a:off x="8747447" y="2260590"/>
            <a:ext cx="199054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+mj-lt"/>
              </a:rPr>
              <a:t>What the Curve Shows:</a:t>
            </a:r>
            <a:endParaRPr lang="en-US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Most orders cluster at </a:t>
            </a:r>
            <a:r>
              <a:rPr lang="en-US" sz="1400" b="1" dirty="0">
                <a:latin typeface="+mj-lt"/>
              </a:rPr>
              <a:t>₹45– ₹60 profit</a:t>
            </a:r>
            <a:r>
              <a:rPr lang="en-US" sz="1400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Upside driven by efficient delivery days.</a:t>
            </a:r>
          </a:p>
          <a:p>
            <a:pPr algn="just"/>
            <a:r>
              <a:rPr lang="en-US" sz="1400" b="1" dirty="0">
                <a:latin typeface="+mj-lt"/>
              </a:rPr>
              <a:t>Implications:</a:t>
            </a:r>
            <a:endParaRPr lang="en-US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Strong baseline before optimization.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+mj-lt"/>
              </a:rPr>
              <a:t>Rider volatility</a:t>
            </a:r>
            <a:r>
              <a:rPr lang="en-US" sz="1400" dirty="0">
                <a:latin typeface="+mj-lt"/>
              </a:rPr>
              <a:t>, </a:t>
            </a:r>
            <a:r>
              <a:rPr lang="en-US" sz="1400" b="1" dirty="0">
                <a:latin typeface="+mj-lt"/>
              </a:rPr>
              <a:t>refunds</a:t>
            </a:r>
            <a:r>
              <a:rPr lang="en-US" sz="1400" dirty="0">
                <a:latin typeface="+mj-lt"/>
              </a:rPr>
              <a:t>, and </a:t>
            </a:r>
            <a:r>
              <a:rPr lang="en-US" sz="1400" b="1" dirty="0">
                <a:latin typeface="+mj-lt"/>
              </a:rPr>
              <a:t>CAC</a:t>
            </a:r>
            <a:r>
              <a:rPr lang="en-US" sz="1400" dirty="0">
                <a:latin typeface="+mj-lt"/>
              </a:rPr>
              <a:t> are the </a:t>
            </a:r>
            <a:r>
              <a:rPr lang="en-US" sz="1400" b="1" dirty="0">
                <a:latin typeface="+mj-lt"/>
              </a:rPr>
              <a:t>biggest levers</a:t>
            </a:r>
            <a:r>
              <a:rPr lang="en-US" sz="1400" dirty="0">
                <a:latin typeface="+mj-lt"/>
              </a:rPr>
              <a:t>.</a:t>
            </a:r>
          </a:p>
          <a:p>
            <a:pPr algn="just"/>
            <a:endParaRPr lang="en-IN" sz="1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9959C-485F-BF0C-BCC7-86B9E2F7786F}"/>
              </a:ext>
            </a:extLst>
          </p:cNvPr>
          <p:cNvSpPr txBox="1"/>
          <p:nvPr/>
        </p:nvSpPr>
        <p:spPr>
          <a:xfrm>
            <a:off x="989162" y="6098663"/>
            <a:ext cx="10052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Baseline FY24 economics show strong profitability with limited downside risk.</a:t>
            </a:r>
          </a:p>
          <a:p>
            <a:endParaRPr lang="en-IN" sz="12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1CCA7-D8A6-9BE0-BC2B-3DF0D10E27E9}"/>
              </a:ext>
            </a:extLst>
          </p:cNvPr>
          <p:cNvSpPr txBox="1"/>
          <p:nvPr/>
        </p:nvSpPr>
        <p:spPr>
          <a:xfrm>
            <a:off x="4318961" y="1550421"/>
            <a:ext cx="3197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Baseline Profit Curve (10,000 Orders)</a:t>
            </a:r>
          </a:p>
        </p:txBody>
      </p:sp>
    </p:spTree>
    <p:extLst>
      <p:ext uri="{BB962C8B-B14F-4D97-AF65-F5344CB8AC3E}">
        <p14:creationId xmlns:p14="http://schemas.microsoft.com/office/powerpoint/2010/main" val="334048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5042-6AF1-F940-C722-5E915047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Scenario Testing: Evaluating Profit &amp; Risk Impact Across Five Strategic Levers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DB7B-E7F8-DE5D-BB27-04E27A66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+mj-lt"/>
              </a:rPr>
              <a:t>Using Monte Carlo, we test how changes to pricing, refunds, rider costs, CAC, and commissions shift profitability and downside risk.</a:t>
            </a:r>
          </a:p>
          <a:p>
            <a:pPr marL="0" indent="0">
              <a:buNone/>
            </a:pPr>
            <a:endParaRPr lang="en-IN" sz="1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7B87F-2B5A-7A13-10CF-1070DEF60C41}"/>
              </a:ext>
            </a:extLst>
          </p:cNvPr>
          <p:cNvSpPr txBox="1"/>
          <p:nvPr/>
        </p:nvSpPr>
        <p:spPr>
          <a:xfrm>
            <a:off x="700635" y="2645390"/>
            <a:ext cx="300297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+mj-lt"/>
              </a:rPr>
              <a:t>Lever A — Delivery Fee (+₹5)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Increase per-order revenue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Slight customer churn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Lever B — Refund Probability (2% → 1%)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Reduce refund-related losses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Lower new-user trust if refund policies tighten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Lever C — Rider Cost Variance (SD 10 → 6)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Stabilize delivery payouts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Potential rider dissatisfaction / slower supply response</a:t>
            </a:r>
          </a:p>
          <a:p>
            <a:pPr>
              <a:buNone/>
            </a:pPr>
            <a:br>
              <a:rPr lang="en-IN" sz="1400" dirty="0">
                <a:latin typeface="+mj-lt"/>
              </a:rPr>
            </a:br>
            <a:endParaRPr lang="en-IN" sz="1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0D22E-EAB9-DA11-1827-9C3359D37B23}"/>
              </a:ext>
            </a:extLst>
          </p:cNvPr>
          <p:cNvSpPr txBox="1"/>
          <p:nvPr/>
        </p:nvSpPr>
        <p:spPr>
          <a:xfrm>
            <a:off x="3577086" y="2610884"/>
            <a:ext cx="31773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+mj-lt"/>
              </a:rPr>
              <a:t>Lever D — Reduce CAC (₹20 → ₹10)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Lower marketing spend per order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Slower user growth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Lever E — Increase Commission (22.5% → 25%)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Increase take rate from restaurants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Possible restaurant churn to competitors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731ADE-BC9F-919F-8478-9A61DC404539}"/>
              </a:ext>
            </a:extLst>
          </p:cNvPr>
          <p:cNvCxnSpPr>
            <a:cxnSpLocks/>
          </p:cNvCxnSpPr>
          <p:nvPr/>
        </p:nvCxnSpPr>
        <p:spPr>
          <a:xfrm>
            <a:off x="3577087" y="2518913"/>
            <a:ext cx="0" cy="35828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C5D2D4-C255-CD66-1800-31999DE84DE6}"/>
              </a:ext>
            </a:extLst>
          </p:cNvPr>
          <p:cNvCxnSpPr>
            <a:cxnSpLocks/>
          </p:cNvCxnSpPr>
          <p:nvPr/>
        </p:nvCxnSpPr>
        <p:spPr>
          <a:xfrm>
            <a:off x="6754476" y="2504534"/>
            <a:ext cx="0" cy="35828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E23A5A-D70B-5D91-DDF2-13E925A7AE6B}"/>
              </a:ext>
            </a:extLst>
          </p:cNvPr>
          <p:cNvSpPr txBox="1"/>
          <p:nvPr/>
        </p:nvSpPr>
        <p:spPr>
          <a:xfrm>
            <a:off x="6797616" y="2631055"/>
            <a:ext cx="337580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+mj-lt"/>
              </a:rPr>
              <a:t>Why These 5? </a:t>
            </a:r>
          </a:p>
          <a:p>
            <a:pPr>
              <a:buNone/>
            </a:pPr>
            <a:r>
              <a:rPr lang="en-IN" sz="1400" dirty="0">
                <a:latin typeface="+mj-lt"/>
              </a:rPr>
              <a:t>These five variables create 90% of Zomato’s profit volatility: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Delivery fee → revenue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Refunds → pure downside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Rider variance → operational unpredictability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CAC → marketing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Commission → platform monetization</a:t>
            </a:r>
          </a:p>
          <a:p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Together, they represent the core levers Zomato can realistically adjust.</a:t>
            </a:r>
            <a:endParaRPr lang="en-IN" sz="14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FA5B0-220A-00B2-F8AD-DEE2CEF9CF69}"/>
              </a:ext>
            </a:extLst>
          </p:cNvPr>
          <p:cNvSpPr txBox="1"/>
          <p:nvPr/>
        </p:nvSpPr>
        <p:spPr>
          <a:xfrm>
            <a:off x="701614" y="6121870"/>
            <a:ext cx="104092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/>
              <a:t>These scenarios quantify how operational changes translate into profit shifts and risk reductions.</a:t>
            </a:r>
          </a:p>
        </p:txBody>
      </p:sp>
    </p:spTree>
    <p:extLst>
      <p:ext uri="{BB962C8B-B14F-4D97-AF65-F5344CB8AC3E}">
        <p14:creationId xmlns:p14="http://schemas.microsoft.com/office/powerpoint/2010/main" val="399351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AC9F-A79D-4200-A70F-330A2719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Scenario Results: Profitability &amp; Risk Comparison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5CDD8E-81A8-2F1B-5B4E-63FC67EAA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752223"/>
              </p:ext>
            </p:extLst>
          </p:nvPr>
        </p:nvGraphicFramePr>
        <p:xfrm>
          <a:off x="901370" y="2037762"/>
          <a:ext cx="6252804" cy="3810000"/>
        </p:xfrm>
        <a:graphic>
          <a:graphicData uri="http://schemas.openxmlformats.org/drawingml/2006/table">
            <a:tbl>
              <a:tblPr/>
              <a:tblGrid>
                <a:gridCol w="1563201">
                  <a:extLst>
                    <a:ext uri="{9D8B030D-6E8A-4147-A177-3AD203B41FA5}">
                      <a16:colId xmlns:a16="http://schemas.microsoft.com/office/drawing/2014/main" val="538064169"/>
                    </a:ext>
                  </a:extLst>
                </a:gridCol>
                <a:gridCol w="1563201">
                  <a:extLst>
                    <a:ext uri="{9D8B030D-6E8A-4147-A177-3AD203B41FA5}">
                      <a16:colId xmlns:a16="http://schemas.microsoft.com/office/drawing/2014/main" val="1429467439"/>
                    </a:ext>
                  </a:extLst>
                </a:gridCol>
                <a:gridCol w="1563201">
                  <a:extLst>
                    <a:ext uri="{9D8B030D-6E8A-4147-A177-3AD203B41FA5}">
                      <a16:colId xmlns:a16="http://schemas.microsoft.com/office/drawing/2014/main" val="1863919245"/>
                    </a:ext>
                  </a:extLst>
                </a:gridCol>
                <a:gridCol w="1563201">
                  <a:extLst>
                    <a:ext uri="{9D8B030D-6E8A-4147-A177-3AD203B41FA5}">
                      <a16:colId xmlns:a16="http://schemas.microsoft.com/office/drawing/2014/main" val="1054191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Avg Profit / Order (₹)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Loss Risk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Monthly Profit (₹ Cr)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13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Baseline (FY24)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48.26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2.20%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318.5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03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A. +₹5 Delivery Fee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51.31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1.82%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328.5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61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B. Refund ↓ (2% → 1%)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52.70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1.02%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337.4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0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C. Rider Cost Variance ↓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47.49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2.24%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310.3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72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D. CAC ↓ (₹20 → ₹10)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59.27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1.82%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371.6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63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E. Commission ↑ (22.5% → 25%)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58.24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2.20%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376.7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1044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0E155D-E326-46A6-AB79-B33B55B50C17}"/>
              </a:ext>
            </a:extLst>
          </p:cNvPr>
          <p:cNvSpPr txBox="1"/>
          <p:nvPr/>
        </p:nvSpPr>
        <p:spPr>
          <a:xfrm>
            <a:off x="1109932" y="584106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(All scenarios simulated using 10,000 Monte Carlo runs and scaled to FY24 monthly volumes)</a:t>
            </a:r>
            <a:endParaRPr lang="en-US" sz="12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6E24F-4494-E9EA-A06C-13B09A755788}"/>
              </a:ext>
            </a:extLst>
          </p:cNvPr>
          <p:cNvSpPr txBox="1"/>
          <p:nvPr/>
        </p:nvSpPr>
        <p:spPr>
          <a:xfrm>
            <a:off x="7354909" y="2819377"/>
            <a:ext cx="38649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+mj-lt"/>
              </a:rPr>
              <a:t>Key Takeaways 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Biggest profit upside:</a:t>
            </a:r>
            <a:r>
              <a:rPr lang="en-US" sz="1600" dirty="0">
                <a:latin typeface="+mj-lt"/>
              </a:rPr>
              <a:t> Reducing CAC and increasing commission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Lowest downside risk:</a:t>
            </a:r>
            <a:r>
              <a:rPr lang="en-US" sz="1600" dirty="0">
                <a:latin typeface="+mj-lt"/>
              </a:rPr>
              <a:t> Reducing refund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Most stable economics:</a:t>
            </a:r>
            <a:r>
              <a:rPr lang="en-US" sz="1600" dirty="0">
                <a:latin typeface="+mj-lt"/>
              </a:rPr>
              <a:t> Lower rider cost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Trade-offs exist:</a:t>
            </a:r>
            <a:r>
              <a:rPr lang="en-US" sz="1600" dirty="0">
                <a:latin typeface="+mj-lt"/>
              </a:rPr>
              <a:t> Higher profits often come with churn or growth risk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9AFF7-E016-AC87-A212-B8F41494135B}"/>
              </a:ext>
            </a:extLst>
          </p:cNvPr>
          <p:cNvSpPr txBox="1"/>
          <p:nvPr/>
        </p:nvSpPr>
        <p:spPr>
          <a:xfrm>
            <a:off x="810883" y="6122873"/>
            <a:ext cx="10322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Not all profit levers are equal — CAC efficiency and refunds deliver the best risk-adjusted gains.</a:t>
            </a:r>
          </a:p>
        </p:txBody>
      </p:sp>
    </p:spTree>
    <p:extLst>
      <p:ext uri="{BB962C8B-B14F-4D97-AF65-F5344CB8AC3E}">
        <p14:creationId xmlns:p14="http://schemas.microsoft.com/office/powerpoint/2010/main" val="184634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E9D11-86CD-2DB5-2ADD-B99B5818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Insights &amp; Strategic 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C4E38-11EE-CECC-2DAB-679D7959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672777"/>
            <a:ext cx="4360194" cy="42708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KEY INSIGHTS</a:t>
            </a:r>
          </a:p>
          <a:p>
            <a:r>
              <a:rPr lang="en-US" b="1" dirty="0">
                <a:latin typeface="+mj-lt"/>
              </a:rPr>
              <a:t>Zomato’s FY24 unit economics are structurally profitable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Baseline profit of ~₹48/order with low downside risk (~2%).</a:t>
            </a:r>
          </a:p>
          <a:p>
            <a:r>
              <a:rPr lang="en-US" b="1" dirty="0">
                <a:latin typeface="+mj-lt"/>
              </a:rPr>
              <a:t>Not all levers deliver equal risk-adjusted returns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Some increase profit but introduce churn or growth risk.</a:t>
            </a:r>
          </a:p>
          <a:p>
            <a:r>
              <a:rPr lang="en-US" b="1" dirty="0">
                <a:latin typeface="+mj-lt"/>
              </a:rPr>
              <a:t>Refund probability is the most effective risk reducer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Cutting refunds from 2% → 1% halves loss risk with minimal volume impact.</a:t>
            </a:r>
          </a:p>
          <a:p>
            <a:r>
              <a:rPr lang="en-US" b="1" dirty="0">
                <a:latin typeface="+mj-lt"/>
              </a:rPr>
              <a:t>CAC efficiency unlocks the largest profit upside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Reducing CAC delivers the highest improvement in monthly profit.</a:t>
            </a:r>
          </a:p>
          <a:p>
            <a:r>
              <a:rPr lang="en-US" b="1" dirty="0">
                <a:latin typeface="+mj-lt"/>
              </a:rPr>
              <a:t>Commission increases boost profit but carry ecosystem risk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Higher take rates risk restaurant churn over time.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2C57E-93FE-9577-60FC-33366966C6EB}"/>
              </a:ext>
            </a:extLst>
          </p:cNvPr>
          <p:cNvSpPr txBox="1"/>
          <p:nvPr/>
        </p:nvSpPr>
        <p:spPr>
          <a:xfrm>
            <a:off x="5160294" y="1672777"/>
            <a:ext cx="54156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b="1" dirty="0">
                <a:latin typeface="+mj-lt"/>
              </a:rPr>
              <a:t>STRATEGIC RECOMMENDATIONS</a:t>
            </a:r>
          </a:p>
          <a:p>
            <a:pPr algn="just"/>
            <a:r>
              <a:rPr lang="en-US" sz="1400" b="1" dirty="0">
                <a:latin typeface="+mj-lt"/>
              </a:rPr>
              <a:t>1.  Prioritize Refund Reduction (Low Risk, High Stability)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Improve order accuracy, packaging standards, and customer communication.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Delivers the </a:t>
            </a:r>
            <a:r>
              <a:rPr lang="en-US" sz="1400" b="1" dirty="0">
                <a:latin typeface="+mj-lt"/>
              </a:rPr>
              <a:t>lowest loss risk (≈1%)</a:t>
            </a:r>
            <a:r>
              <a:rPr lang="en-US" sz="1400" dirty="0">
                <a:latin typeface="+mj-lt"/>
              </a:rPr>
              <a:t> with limited demand impact.</a:t>
            </a:r>
          </a:p>
          <a:p>
            <a:pPr algn="just"/>
            <a:r>
              <a:rPr lang="en-US" sz="1400" b="1" dirty="0">
                <a:latin typeface="+mj-lt"/>
              </a:rPr>
              <a:t>2.  Focus on CAC Efficiency, Not Absolute Cuts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Shift from blanket discounts to targeted, cohort-based incentives.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Preserves growth while capturing </a:t>
            </a:r>
            <a:r>
              <a:rPr lang="en-US" sz="1400" b="1" dirty="0">
                <a:latin typeface="+mj-lt"/>
              </a:rPr>
              <a:t>₹50+ Cr monthly upside</a:t>
            </a:r>
            <a:r>
              <a:rPr lang="en-US" sz="1400" dirty="0">
                <a:latin typeface="+mj-lt"/>
              </a:rPr>
              <a:t>.</a:t>
            </a:r>
          </a:p>
          <a:p>
            <a:pPr algn="just">
              <a:buNone/>
            </a:pPr>
            <a:r>
              <a:rPr lang="en-US" sz="1400" b="1" dirty="0">
                <a:latin typeface="+mj-lt"/>
              </a:rPr>
              <a:t>3. Use Delivery Fee Increases Selectively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Apply dynamic pricing during peak demand and high congestion periods.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Increases profitability without broad-based churn.</a:t>
            </a:r>
          </a:p>
          <a:p>
            <a:pPr algn="just">
              <a:buNone/>
            </a:pPr>
            <a:r>
              <a:rPr lang="en-US" sz="1400" b="1" dirty="0">
                <a:latin typeface="+mj-lt"/>
              </a:rPr>
              <a:t>4. Treat Commission Increases as a Secondary Lever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Pair higher commissions with restaurant value-adds (ads, analytics).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Avoid long-term platform disintermediation risk.</a:t>
            </a:r>
          </a:p>
          <a:p>
            <a:pPr algn="just">
              <a:buNone/>
            </a:pPr>
            <a:r>
              <a:rPr lang="en-US" sz="1400" b="1" dirty="0">
                <a:latin typeface="+mj-lt"/>
              </a:rPr>
              <a:t>5. Improve Rider Cost Predictability, Not Suppression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Use surge pricing and routing optimization instead of hard cost caps.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Stabilizes operations without triggering supply shocks.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727C20-AD3A-2BF1-8E7B-66519AFD0A8D}"/>
              </a:ext>
            </a:extLst>
          </p:cNvPr>
          <p:cNvCxnSpPr>
            <a:cxnSpLocks/>
          </p:cNvCxnSpPr>
          <p:nvPr/>
        </p:nvCxnSpPr>
        <p:spPr>
          <a:xfrm>
            <a:off x="5095336" y="1638271"/>
            <a:ext cx="0" cy="44807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516CEF-70F4-4D6B-B591-76DB32753519}"/>
              </a:ext>
            </a:extLst>
          </p:cNvPr>
          <p:cNvSpPr txBox="1"/>
          <p:nvPr/>
        </p:nvSpPr>
        <p:spPr>
          <a:xfrm>
            <a:off x="800100" y="6153501"/>
            <a:ext cx="930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The optimal strategy combines refund reduction and CAC efficiency first, with pricing and commission levers used selectively.</a:t>
            </a:r>
          </a:p>
        </p:txBody>
      </p:sp>
    </p:spTree>
    <p:extLst>
      <p:ext uri="{BB962C8B-B14F-4D97-AF65-F5344CB8AC3E}">
        <p14:creationId xmlns:p14="http://schemas.microsoft.com/office/powerpoint/2010/main" val="78592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3F3B-4123-6597-9274-FC1A75F42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Sensitivity Analysis: Monthly Profit Impact of Pricing Levers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934BE-6F83-A800-6B31-8EEE4ED0B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058837"/>
            <a:ext cx="5295900" cy="4163683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400" b="1" dirty="0">
                <a:latin typeface="+mj-lt"/>
              </a:rPr>
              <a:t>Monthly Profit Sensitivity (₹ Cr)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Commission Rate × Delivery Fee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400" dirty="0">
              <a:latin typeface="+mj-lt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What this shows:</a:t>
            </a:r>
            <a:endParaRPr lang="en-US" sz="1400" dirty="0"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1400" dirty="0">
                <a:latin typeface="+mj-lt"/>
              </a:rPr>
              <a:t>Profit increases </a:t>
            </a:r>
            <a:r>
              <a:rPr lang="en-US" sz="1400" b="1" dirty="0">
                <a:latin typeface="+mj-lt"/>
              </a:rPr>
              <a:t>monotonically</a:t>
            </a:r>
            <a:r>
              <a:rPr lang="en-US" sz="1400" dirty="0">
                <a:latin typeface="+mj-lt"/>
              </a:rPr>
              <a:t> with higher commission and delivery fees</a:t>
            </a:r>
          </a:p>
          <a:p>
            <a:pPr algn="just">
              <a:spcBef>
                <a:spcPts val="0"/>
              </a:spcBef>
            </a:pPr>
            <a:r>
              <a:rPr lang="en-US" sz="1400" b="1" dirty="0">
                <a:latin typeface="+mj-lt"/>
              </a:rPr>
              <a:t>Delivery fee</a:t>
            </a:r>
            <a:r>
              <a:rPr lang="en-US" sz="1400" dirty="0">
                <a:latin typeface="+mj-lt"/>
              </a:rPr>
              <a:t> increases have a </a:t>
            </a:r>
            <a:r>
              <a:rPr lang="en-US" sz="1400" b="1" dirty="0">
                <a:latin typeface="+mj-lt"/>
              </a:rPr>
              <a:t>linear impact</a:t>
            </a:r>
            <a:endParaRPr lang="en-US" sz="1400" dirty="0"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1400" b="1" dirty="0">
                <a:latin typeface="+mj-lt"/>
              </a:rPr>
              <a:t>Commission</a:t>
            </a:r>
            <a:r>
              <a:rPr lang="en-US" sz="1400" dirty="0">
                <a:latin typeface="+mj-lt"/>
              </a:rPr>
              <a:t> increases have a </a:t>
            </a:r>
            <a:r>
              <a:rPr lang="en-US" sz="1400" b="1" dirty="0">
                <a:latin typeface="+mj-lt"/>
              </a:rPr>
              <a:t>compounding impact at scale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400" dirty="0">
              <a:latin typeface="+mj-lt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Insight:</a:t>
            </a:r>
            <a:endParaRPr lang="en-US" sz="1400" dirty="0"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1400" dirty="0">
                <a:latin typeface="+mj-lt"/>
              </a:rPr>
              <a:t>Pricing levers are powerful</a:t>
            </a:r>
          </a:p>
          <a:p>
            <a:pPr algn="just">
              <a:spcBef>
                <a:spcPts val="0"/>
              </a:spcBef>
            </a:pPr>
            <a:r>
              <a:rPr lang="en-US" sz="1400" dirty="0">
                <a:latin typeface="+mj-lt"/>
              </a:rPr>
              <a:t>Should be applied </a:t>
            </a:r>
            <a:r>
              <a:rPr lang="en-US" sz="1400" b="1" dirty="0">
                <a:latin typeface="+mj-lt"/>
              </a:rPr>
              <a:t>selectively</a:t>
            </a:r>
            <a:r>
              <a:rPr lang="en-US" sz="1400" dirty="0">
                <a:latin typeface="+mj-lt"/>
              </a:rPr>
              <a:t> to avoid customer or restaurant churn</a:t>
            </a:r>
          </a:p>
        </p:txBody>
      </p:sp>
      <p:pic>
        <p:nvPicPr>
          <p:cNvPr id="5" name="Picture 4" descr="A chart of blue and green shades&#10;&#10;AI-generated content may be incorrect.">
            <a:extLst>
              <a:ext uri="{FF2B5EF4-FFF2-40B4-BE49-F238E27FC236}">
                <a16:creationId xmlns:a16="http://schemas.microsoft.com/office/drawing/2014/main" id="{9557BC03-9AA8-0570-980B-8F03F1D50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370" y="1748287"/>
            <a:ext cx="5244320" cy="427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0376B7-9C46-F284-3842-5740A9515C28}"/>
              </a:ext>
            </a:extLst>
          </p:cNvPr>
          <p:cNvSpPr txBox="1"/>
          <p:nvPr/>
        </p:nvSpPr>
        <p:spPr>
          <a:xfrm>
            <a:off x="800100" y="608402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Pricing decisions materially impact profitability, but scale effects amplify commission changes.</a:t>
            </a:r>
          </a:p>
        </p:txBody>
      </p:sp>
    </p:spTree>
    <p:extLst>
      <p:ext uri="{BB962C8B-B14F-4D97-AF65-F5344CB8AC3E}">
        <p14:creationId xmlns:p14="http://schemas.microsoft.com/office/powerpoint/2010/main" val="41867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D4A6-F951-7070-B2C2-052AA6F2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Sensitivity Analysis: Loss Risk Response to Refund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3108A-1DD2-457A-BE32-A49786509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397" y="2229871"/>
            <a:ext cx="4969795" cy="392001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Loss Risk Sensitivity (%)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Commission Rate × Refund Probability</a:t>
            </a:r>
            <a:endParaRPr lang="en-US" sz="14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1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What this shows: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Refund probability is the dominant driver of downside risk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+mj-lt"/>
              </a:rPr>
              <a:t>Higher commission </a:t>
            </a:r>
            <a:r>
              <a:rPr lang="en-US" sz="1400" b="1" dirty="0">
                <a:latin typeface="+mj-lt"/>
              </a:rPr>
              <a:t>cannot offset high refund rates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+mj-lt"/>
              </a:rPr>
              <a:t>Loss risk rises sharply beyond </a:t>
            </a:r>
            <a:r>
              <a:rPr lang="en-US" sz="1400" b="1" dirty="0">
                <a:latin typeface="+mj-lt"/>
              </a:rPr>
              <a:t>~3–4% refund probability</a:t>
            </a:r>
            <a:endParaRPr lang="en-US" sz="14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1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Insight: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+mj-lt"/>
              </a:rPr>
              <a:t>Operational quality and order accuracy matter more than monetization for risk control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5" name="Picture 4" descr="A red and white chart&#10;&#10;AI-generated content may be incorrect.">
            <a:extLst>
              <a:ext uri="{FF2B5EF4-FFF2-40B4-BE49-F238E27FC236}">
                <a16:creationId xmlns:a16="http://schemas.microsoft.com/office/drawing/2014/main" id="{93DABF2D-4FCF-92DC-4B69-AF946BB53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700" y="1688540"/>
            <a:ext cx="5581644" cy="4399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67E79D-75D2-B46A-F940-70DAD3114B62}"/>
              </a:ext>
            </a:extLst>
          </p:cNvPr>
          <p:cNvSpPr txBox="1"/>
          <p:nvPr/>
        </p:nvSpPr>
        <p:spPr>
          <a:xfrm>
            <a:off x="775397" y="6157766"/>
            <a:ext cx="7735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Refund control is the single most effective lever for reducing loss-making orders.</a:t>
            </a:r>
          </a:p>
        </p:txBody>
      </p:sp>
    </p:spTree>
    <p:extLst>
      <p:ext uri="{BB962C8B-B14F-4D97-AF65-F5344CB8AC3E}">
        <p14:creationId xmlns:p14="http://schemas.microsoft.com/office/powerpoint/2010/main" val="102678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271E-A0B4-98CA-7F52-649A356B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Limitations, Assumptions &amp; Next Steps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6415-7169-AF81-5AAA-0F39CB630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759789"/>
            <a:ext cx="3250262" cy="42020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+mj-lt"/>
              </a:rPr>
              <a:t>KEY ASSUMPTIONS</a:t>
            </a:r>
          </a:p>
          <a:p>
            <a:pPr algn="just"/>
            <a:r>
              <a:rPr lang="en-US" sz="1600" dirty="0">
                <a:latin typeface="+mj-lt"/>
              </a:rPr>
              <a:t>FY24 averages used for AOV, commissions, and order volumes</a:t>
            </a:r>
          </a:p>
          <a:p>
            <a:pPr algn="just"/>
            <a:r>
              <a:rPr lang="en-US" sz="1600" dirty="0">
                <a:latin typeface="+mj-lt"/>
              </a:rPr>
              <a:t>Cost drivers modeled as independent probability distributions</a:t>
            </a:r>
          </a:p>
          <a:p>
            <a:pPr algn="just"/>
            <a:r>
              <a:rPr lang="en-US" sz="1600" dirty="0">
                <a:latin typeface="+mj-lt"/>
              </a:rPr>
              <a:t>Order volume elasticity applied conservatively at scenario level</a:t>
            </a:r>
          </a:p>
          <a:p>
            <a:pPr algn="just"/>
            <a:r>
              <a:rPr lang="en-US" sz="1600" dirty="0">
                <a:latin typeface="+mj-lt"/>
              </a:rPr>
              <a:t>Competitive landscape assumed stable in the short term</a:t>
            </a:r>
          </a:p>
          <a:p>
            <a:pPr algn="just"/>
            <a:endParaRPr lang="en-US" sz="1600" dirty="0">
              <a:latin typeface="+mj-lt"/>
            </a:endParaRPr>
          </a:p>
          <a:p>
            <a:pPr algn="just"/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9E3B1-17AC-A73C-82FC-F53D5568659F}"/>
              </a:ext>
            </a:extLst>
          </p:cNvPr>
          <p:cNvSpPr txBox="1"/>
          <p:nvPr/>
        </p:nvSpPr>
        <p:spPr>
          <a:xfrm>
            <a:off x="4042913" y="1696283"/>
            <a:ext cx="33125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>
                <a:latin typeface="+mj-lt"/>
              </a:rPr>
              <a:t>LIMITATIONS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Does not model </a:t>
            </a:r>
            <a:r>
              <a:rPr lang="en-US" sz="1600" b="1" dirty="0">
                <a:latin typeface="+mj-lt"/>
              </a:rPr>
              <a:t>long-term customer or restaurant churn dynamics</a:t>
            </a:r>
            <a:endParaRPr lang="en-US" sz="16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Cross-effects between levers (e.g., higher fees → refunds) not fully captured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City-level, time-of-day, and cohort-level variations not modeled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Results indicate </a:t>
            </a:r>
            <a:r>
              <a:rPr lang="en-US" sz="1600" b="1" dirty="0">
                <a:latin typeface="+mj-lt"/>
              </a:rPr>
              <a:t>directional strategy impact</a:t>
            </a:r>
            <a:r>
              <a:rPr lang="en-US" sz="1600" dirty="0">
                <a:latin typeface="+mj-lt"/>
              </a:rPr>
              <a:t>, not exact forecasts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1B926-CD63-DA5D-5CBE-C8D3BBC27FD1}"/>
              </a:ext>
            </a:extLst>
          </p:cNvPr>
          <p:cNvSpPr txBox="1"/>
          <p:nvPr/>
        </p:nvSpPr>
        <p:spPr>
          <a:xfrm>
            <a:off x="7668523" y="1759789"/>
            <a:ext cx="341031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>
                <a:latin typeface="+mj-lt"/>
              </a:rPr>
              <a:t>NEXT STEPS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Add </a:t>
            </a:r>
            <a:r>
              <a:rPr lang="en-US" sz="1600" b="1" dirty="0">
                <a:latin typeface="+mj-lt"/>
              </a:rPr>
              <a:t>cohort-based demand and churn modeling</a:t>
            </a:r>
            <a:endParaRPr lang="en-US" sz="16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Extend simulator to </a:t>
            </a:r>
            <a:r>
              <a:rPr lang="en-US" sz="1600" b="1" dirty="0">
                <a:latin typeface="+mj-lt"/>
              </a:rPr>
              <a:t>city-level and peak/off-peak analysis</a:t>
            </a:r>
            <a:endParaRPr lang="en-US" sz="16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Integrate </a:t>
            </a:r>
            <a:r>
              <a:rPr lang="en-US" sz="1600" b="1" dirty="0">
                <a:latin typeface="+mj-lt"/>
              </a:rPr>
              <a:t>real-time operational data</a:t>
            </a:r>
            <a:r>
              <a:rPr lang="en-US" sz="1600" dirty="0">
                <a:latin typeface="+mj-lt"/>
              </a:rPr>
              <a:t> for live decision support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Use simulator as a </a:t>
            </a:r>
            <a:r>
              <a:rPr lang="en-US" sz="1600" b="1" dirty="0">
                <a:latin typeface="+mj-lt"/>
              </a:rPr>
              <a:t>pricing &amp; policy experimentation tool</a:t>
            </a:r>
            <a:endParaRPr lang="en-US" sz="16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FB650-3188-B57F-6690-59D8A0F9008F}"/>
              </a:ext>
            </a:extLst>
          </p:cNvPr>
          <p:cNvSpPr txBox="1"/>
          <p:nvPr/>
        </p:nvSpPr>
        <p:spPr>
          <a:xfrm>
            <a:off x="700635" y="614952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/>
              <a:t>This simulator is a strategic decision-support tool — not a static forecasting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4B063-6D66-FA94-DA6B-255A34D2C121}"/>
              </a:ext>
            </a:extLst>
          </p:cNvPr>
          <p:cNvSpPr txBox="1"/>
          <p:nvPr/>
        </p:nvSpPr>
        <p:spPr>
          <a:xfrm>
            <a:off x="8477654" y="5518579"/>
            <a:ext cx="291424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Code &amp; Simulation Notebooks: </a:t>
            </a:r>
          </a:p>
          <a:p>
            <a:r>
              <a:rPr lang="en-IN" sz="1100" i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https://github.com/Kushagra-1210/Zomato-Unit-Economics-Simulator.git</a:t>
            </a:r>
            <a:r>
              <a:rPr lang="en-IN" sz="1100" i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40814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6956</TotalTime>
  <Words>1954</Words>
  <Application>Microsoft Office PowerPoint</Application>
  <PresentationFormat>Widescreen</PresentationFormat>
  <Paragraphs>257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Univers Condensed</vt:lpstr>
      <vt:lpstr>Wingdings</vt:lpstr>
      <vt:lpstr>ChronicleVTI</vt:lpstr>
      <vt:lpstr>Zomato Unit Economics &amp; Risk Simulator (FY24) </vt:lpstr>
      <vt:lpstr>Why Model Unit Economics? </vt:lpstr>
      <vt:lpstr>FY24 Operating Inputs Used in the Simulator (Zomato Actuals + Industry Ranges) </vt:lpstr>
      <vt:lpstr>The “Golden Equation” of Profit per Order (Unit Economics Framework) </vt:lpstr>
      <vt:lpstr>Monte Carlo Simulation: Measuring Profitability  &amp; Risk Under Real World Uncertainty </vt:lpstr>
      <vt:lpstr>Baseline Simulation Results (10,000 Orders) </vt:lpstr>
      <vt:lpstr>Scenario Testing: Evaluating Profit &amp; Risk Impact Across Five Strategic Levers </vt:lpstr>
      <vt:lpstr>Scenario Results: Profitability &amp; Risk Comparison </vt:lpstr>
      <vt:lpstr>Key Insights &amp; Strategic Recommendations </vt:lpstr>
      <vt:lpstr>Sensitivity Analysis: Monthly Profit Impact of Pricing Levers</vt:lpstr>
      <vt:lpstr>Sensitivity Analysis: Loss Risk Response to Refund Probability</vt:lpstr>
      <vt:lpstr>Limitations, Assumptions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Kushagra Bansal</dc:creator>
  <cp:lastModifiedBy>Kushagra Bansal</cp:lastModifiedBy>
  <cp:revision>2</cp:revision>
  <dcterms:created xsi:type="dcterms:W3CDTF">2025-12-08T20:37:28Z</dcterms:created>
  <dcterms:modified xsi:type="dcterms:W3CDTF">2025-12-18T09:55:52Z</dcterms:modified>
</cp:coreProperties>
</file>